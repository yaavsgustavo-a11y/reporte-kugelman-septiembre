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embeddings/DatosGrafico1.xlsx" ContentType="application/vnd.openxmlformats-officedocument.spreadsheetml.sheet"/>
  <Override PartName="/ppt/charts/chart2.xml" ContentType="application/vnd.openxmlformats-officedocument.drawingml.chart+xml"/>
  <Override PartName="/ppt/embeddings/DatosGrafico2.xlsx" ContentType="application/vnd.openxmlformats-officedocument.spreadsheetml.sheet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embeddings/DatosGrafico3.xlsx" ContentType="application/vnd.openxmlformats-officedocument.spreadsheetml.sheet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embeddings/DatosGrafico4.xlsx" ContentType="application/vnd.openxmlformats-officedocument.spreadsheetml.sheet"/>
  <Override PartName="/ppt/charts/chart5.xml" ContentType="application/vnd.openxmlformats-officedocument.drawingml.chart+xml"/>
  <Override PartName="/ppt/embeddings/DatosGrafico5.xlsx" ContentType="application/vnd.openxmlformats-officedocument.spreadsheetml.sheet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embeddings/DatosGrafico6.xlsx" ContentType="application/vnd.openxmlformats-officedocument.spreadsheetml.sheet"/>
  <Override PartName="/ppt/charts/chart7.xml" ContentType="application/vnd.openxmlformats-officedocument.drawingml.chart+xml"/>
  <Override PartName="/ppt/embeddings/DatosGrafico7.xlsx" ContentType="application/vnd.openxmlformats-officedocument.spreadsheetml.sheet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embeddings/DatosGrafico8.xlsx" ContentType="application/vnd.openxmlformats-officedocument.spreadsheetml.sheet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</p:sldIdLst>
  <p:sldSz cx="12192000" cy="6858000"/>
  <p:notesSz cx="6858000" cy="12192000"/>
  <p:defaultTextStyle>
    <a:defPPr>
      <a:defRPr lang="es-MX"/>
    </a:defPPr>
  </p:defaultTextStyle>
</p:presentation>
</file>

<file path=ppt/_rels/presentation.xml.rels><?xml version="1.0" encoding="UTF-8" standalone="yes"?><Relationships xmlns="http://schemas.openxmlformats.org/package/2006/relationships"><Relationship Id="rIdM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T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1.xlsx"/></Relationships>
</file>

<file path=ppt/charts/_rels/chart2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2.xlsx"/></Relationships>
</file>

<file path=ppt/charts/_rels/chart3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3.xlsx"/></Relationships>
</file>

<file path=ppt/charts/_rels/chart4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4.xlsx"/></Relationships>
</file>

<file path=ppt/charts/_rels/chart5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5.xlsx"/></Relationships>
</file>

<file path=ppt/charts/_rels/chart6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6.xlsx"/></Relationships>
</file>

<file path=ppt/charts/_rels/chart7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7.xlsx"/></Relationships>
</file>

<file path=ppt/charts/_rels/chart8.xml.rels><?xml version="1.0" encoding="UTF-8" standalone="yes"?><Relationships xmlns="http://schemas.openxmlformats.org/package/2006/relationships"><Relationship Id="rIdData" Type="http://schemas.openxmlformats.org/officeDocument/2006/relationships/package" Target="../embeddings/DatosGrafico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Captación por semana (leads-persona)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Leads</c:v>
          </c:tx>
          <c:spPr>
            <a:solidFill>
              <a:srgbClr val="2E8BC0"/>
            </a:solidFill>
            <a:ln>
              <a:noFill/>
            </a:ln>
          </c:spPr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Hoja1!$A$2:$A$8</c:f>
              <c:strCache>
                <c:ptCount val="7"/>
                <c:pt idx="0">
                  <c:v>21/08–27/08</c:v>
                </c:pt>
                <c:pt idx="1">
                  <c:v>28/08–3/09</c:v>
                </c:pt>
                <c:pt idx="2">
                  <c:v>4/09–10/09</c:v>
                </c:pt>
                <c:pt idx="3">
                  <c:v>11/09–17/09</c:v>
                </c:pt>
                <c:pt idx="4">
                  <c:v>18/09–24/09</c:v>
                </c:pt>
                <c:pt idx="5">
                  <c:v>25/09–1/10</c:v>
                </c:pt>
                <c:pt idx="6">
                  <c:v>2/10–4/10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35</c:v>
                </c:pt>
                <c:pt idx="1">
                  <c:v>126</c:v>
                </c:pt>
                <c:pt idx="2">
                  <c:v>122</c:v>
                </c:pt>
                <c:pt idx="3">
                  <c:v>73</c:v>
                </c:pt>
                <c:pt idx="4">
                  <c:v>69</c:v>
                </c:pt>
                <c:pt idx="5">
                  <c:v>43</c:v>
                </c:pt>
                <c:pt idx="6">
                  <c:v>9</c:v>
                </c:pt>
              </c:numCache>
            </c:numRef>
          </c:val>
        </c:ser>
        <c:gapWidth val="6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222222222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7E7E7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111111111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Medio de contacto de los leads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Registros</c:v>
          </c:tx>
          <c:dPt>
            <c:idx val="0"/>
            <c:bubble3D val="0"/>
            <c:spPr>
              <a:solidFill>
                <a:srgbClr val="1F3864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2E8BC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E0A030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2E7D5B"/>
              </a:solidFill>
              <a:ln w="19050">
                <a:solidFill>
                  <a:srgbClr val="FFFFFF"/>
                </a:solidFill>
              </a:ln>
            </c:spPr>
          </c:dPt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Hoja1!$A$2:$A$5</c:f>
              <c:strCache>
                <c:ptCount val="4"/>
                <c:pt idx="0">
                  <c:v>Facebook</c:v>
                </c:pt>
                <c:pt idx="1">
                  <c:v>WhatsApp</c:v>
                </c:pt>
                <c:pt idx="2">
                  <c:v>Instagram</c:v>
                </c:pt>
                <c:pt idx="3">
                  <c:v>Sin información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239</c:v>
                </c:pt>
                <c:pt idx="1">
                  <c:v>218</c:v>
                </c:pt>
                <c:pt idx="2">
                  <c:v>40</c:v>
                </c:pt>
                <c:pt idx="3">
                  <c:v>2</c:v>
                </c:pt>
              </c:numCache>
            </c:numRef>
          </c:val>
        </c:ser>
        <c:holeSize val="52"/>
      </c:doughnutChart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/>
          </a:pPr>
          <a:endParaRPr lang="es-MX"/>
        </a:p>
      </c:txPr>
    </c:legend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Agendadas → Realizadas → Inscripciones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Clases muestra</c:v>
          </c:tx>
          <c:spPr>
            <a:solidFill>
              <a:srgbClr val="1F3864"/>
            </a:solidFill>
            <a:ln>
              <a:noFill/>
            </a:ln>
          </c:spPr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Hoja1!$A$2:$A$4</c:f>
              <c:strCache>
                <c:ptCount val="3"/>
                <c:pt idx="0">
                  <c:v>Agendadas</c:v>
                </c:pt>
                <c:pt idx="1">
                  <c:v>Realizadas</c:v>
                </c:pt>
                <c:pt idx="2">
                  <c:v>Con inscripción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91</c:v>
                </c:pt>
                <c:pt idx="1">
                  <c:v>67</c:v>
                </c:pt>
                <c:pt idx="2">
                  <c:v>31</c:v>
                </c:pt>
              </c:numCache>
            </c:numRef>
          </c:val>
        </c:ser>
        <c:gapWidth val="6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222222222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7E7E7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111111111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Inscripciones por programa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Inscripciones</c:v>
          </c:tx>
          <c:dPt>
            <c:idx val="0"/>
            <c:bubble3D val="0"/>
            <c:spPr>
              <a:solidFill>
                <a:srgbClr val="1F3864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2E8BC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E0A030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2E7D5B"/>
              </a:solidFill>
              <a:ln w="19050">
                <a:solidFill>
                  <a:srgbClr val="FFFFFF"/>
                </a:solidFill>
              </a:ln>
            </c:spPr>
          </c:dPt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Hoja1!$A$2:$A$5</c:f>
              <c:strCache>
                <c:ptCount val="4"/>
                <c:pt idx="0">
                  <c:v>College</c:v>
                </c:pt>
                <c:pt idx="1">
                  <c:v>Kids</c:v>
                </c:pt>
                <c:pt idx="2">
                  <c:v>Junior</c:v>
                </c:pt>
                <c:pt idx="3">
                  <c:v>Parenthood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</c:ser>
        <c:holeSize val="52"/>
      </c:doughnutChart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/>
          </a:pPr>
          <a:endParaRPr lang="es-MX"/>
        </a:p>
      </c:txPr>
    </c:legend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Conversión general del embudo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Conversión</c:v>
          </c:tx>
          <c:spPr>
            <a:solidFill>
              <a:srgbClr val="2E8BC0"/>
            </a:solidFill>
            <a:ln>
              <a:noFill/>
            </a:ln>
          </c:spPr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Hoja1!$A$2:$A$5</c:f>
              <c:strCache>
                <c:ptCount val="4"/>
                <c:pt idx="0">
                  <c:v>Lead → CM</c:v>
                </c:pt>
                <c:pt idx="1">
                  <c:v>CM → realizada</c:v>
                </c:pt>
                <c:pt idx="2">
                  <c:v>CM realizada → inscripción</c:v>
                </c:pt>
                <c:pt idx="3">
                  <c:v>Lead → inscripción</c:v>
                </c:pt>
              </c:strCache>
            </c:strRef>
          </c:cat>
          <c:val>
            <c:numRef>
              <c:f>Hoja1!$B$2:$B$5</c:f>
              <c:numCache>
                <c:formatCode>0.0"%"</c:formatCode>
                <c:ptCount val="4"/>
                <c:pt idx="0">
                  <c:v>19.1</c:v>
                </c:pt>
                <c:pt idx="1">
                  <c:v>73.6</c:v>
                </c:pt>
                <c:pt idx="2">
                  <c:v>46.2</c:v>
                </c:pt>
                <c:pt idx="3">
                  <c:v>6.3</c:v>
                </c:pt>
              </c:numCache>
            </c:numRef>
          </c:val>
        </c:ser>
        <c:gapWidth val="6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222222222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9525">
              <a:solidFill>
                <a:srgbClr val="E7E7E7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111111111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Conversaciones por anuncio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Conversaciones</c:v>
          </c:tx>
          <c:spPr>
            <a:solidFill>
              <a:srgbClr val="1F3864"/>
            </a:solidFill>
            <a:ln>
              <a:noFill/>
            </a:ln>
          </c:spPr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Hoja1!$A$2:$A$9</c:f>
              <c:strCache>
                <c:ptCount val="8"/>
                <c:pt idx="0">
                  <c:v>video villas</c:v>
                </c:pt>
                <c:pt idx="1">
                  <c:v>video sin libros</c:v>
                </c:pt>
                <c:pt idx="2">
                  <c:v>post grupos</c:v>
                </c:pt>
                <c:pt idx="3">
                  <c:v>video testimoniales</c:v>
                </c:pt>
                <c:pt idx="4">
                  <c:v>video clases</c:v>
                </c:pt>
                <c:pt idx="5">
                  <c:v>carrete</c:v>
                </c:pt>
                <c:pt idx="6">
                  <c:v>post clase</c:v>
                </c:pt>
                <c:pt idx="7">
                  <c:v>video switch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0">
                  <c:v>491</c:v>
                </c:pt>
                <c:pt idx="1">
                  <c:v>39</c:v>
                </c:pt>
                <c:pt idx="2">
                  <c:v>11</c:v>
                </c:pt>
                <c:pt idx="3">
                  <c:v>11</c:v>
                </c:pt>
                <c:pt idx="4">
                  <c:v>7</c:v>
                </c:pt>
                <c:pt idx="5">
                  <c:v>4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6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222222222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7E7E7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111111111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Costo por conversación (MXN) — menor es mejor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Costo por conversación</c:v>
          </c:tx>
          <c:spPr>
            <a:solidFill>
              <a:srgbClr val="E0A030"/>
            </a:solidFill>
            <a:ln>
              <a:noFill/>
            </a:ln>
          </c:spPr>
          <c:dLbls>
            <c:numFmt formatCode="&quot;$&quot;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Hoja1!$A$2:$A$9</c:f>
              <c:strCache>
                <c:ptCount val="8"/>
                <c:pt idx="0">
                  <c:v>video villas</c:v>
                </c:pt>
                <c:pt idx="1">
                  <c:v>video switch</c:v>
                </c:pt>
                <c:pt idx="2">
                  <c:v>video sin libros</c:v>
                </c:pt>
                <c:pt idx="3">
                  <c:v>video testimoniales</c:v>
                </c:pt>
                <c:pt idx="4">
                  <c:v>post clase</c:v>
                </c:pt>
                <c:pt idx="5">
                  <c:v>post grupos</c:v>
                </c:pt>
                <c:pt idx="6">
                  <c:v>carrete</c:v>
                </c:pt>
                <c:pt idx="7">
                  <c:v>video clases</c:v>
                </c:pt>
              </c:strCache>
            </c:strRef>
          </c:cat>
          <c:val>
            <c:numRef>
              <c:f>Hoja1!$B$2:$B$9</c:f>
              <c:numCache>
                <c:formatCode>"$"#,##0</c:formatCode>
                <c:ptCount val="8"/>
                <c:pt idx="0">
                  <c:v>9.98</c:v>
                </c:pt>
                <c:pt idx="1">
                  <c:v>15.19</c:v>
                </c:pt>
                <c:pt idx="2">
                  <c:v>19.09</c:v>
                </c:pt>
                <c:pt idx="3">
                  <c:v>28.09</c:v>
                </c:pt>
                <c:pt idx="4">
                  <c:v>29.13</c:v>
                </c:pt>
                <c:pt idx="5">
                  <c:v>36.61</c:v>
                </c:pt>
                <c:pt idx="6">
                  <c:v>44.99</c:v>
                </c:pt>
                <c:pt idx="7">
                  <c:v>59.65</c:v>
                </c:pt>
              </c:numCache>
            </c:numRef>
          </c:val>
        </c:ser>
        <c:gapWidth val="6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222222222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7E7E7"/>
              </a:solidFill>
            </a:ln>
          </c:spPr>
        </c:majorGridlines>
        <c:numFmt formatCode="&quot;$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111111111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200" b="1">
                <a:solidFill>
                  <a:srgbClr val="1F3864"/>
                </a:solidFill>
              </a:defRPr>
            </a:pPr>
            <a:r>
              <a:rPr lang="es-MX" sz="1200" b="1">
                <a:solidFill>
                  <a:srgbClr val="1F3864"/>
                </a:solidFill>
              </a:rPr>
              <a:t>Eficacia del creativo: conversaciones por cada 1,000 impresiones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Conv. / 1,000 impresiones</c:v>
          </c:tx>
          <c:spPr>
            <a:solidFill>
              <a:srgbClr val="2E8BC0"/>
            </a:solidFill>
            <a:ln>
              <a:noFill/>
            </a:ln>
          </c:spPr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Hoja1!$A$2:$A$9</c:f>
              <c:strCache>
                <c:ptCount val="8"/>
                <c:pt idx="0">
                  <c:v>video clases</c:v>
                </c:pt>
                <c:pt idx="1">
                  <c:v>post grupos</c:v>
                </c:pt>
                <c:pt idx="2">
                  <c:v>video testimoniales</c:v>
                </c:pt>
                <c:pt idx="3">
                  <c:v>post clase</c:v>
                </c:pt>
                <c:pt idx="4">
                  <c:v>carrete</c:v>
                </c:pt>
                <c:pt idx="5">
                  <c:v>video villas</c:v>
                </c:pt>
                <c:pt idx="6">
                  <c:v>video sin libros</c:v>
                </c:pt>
                <c:pt idx="7">
                  <c:v>video switch</c:v>
                </c:pt>
              </c:strCache>
            </c:strRef>
          </c:cat>
          <c:val>
            <c:numRef>
              <c:f>Hoja1!$B$2:$B$9</c:f>
              <c:numCache>
                <c:formatCode>0.00</c:formatCode>
                <c:ptCount val="8"/>
                <c:pt idx="0">
                  <c:v>1.02</c:v>
                </c:pt>
                <c:pt idx="1">
                  <c:v>1.1</c:v>
                </c:pt>
                <c:pt idx="2">
                  <c:v>1.78</c:v>
                </c:pt>
                <c:pt idx="3">
                  <c:v>1.97</c:v>
                </c:pt>
                <c:pt idx="4">
                  <c:v>2.24</c:v>
                </c:pt>
                <c:pt idx="5">
                  <c:v>2.45</c:v>
                </c:pt>
                <c:pt idx="6">
                  <c:v>2.51</c:v>
                </c:pt>
                <c:pt idx="7">
                  <c:v>4.2</c:v>
                </c:pt>
              </c:numCache>
            </c:numRef>
          </c:val>
        </c:ser>
        <c:gapWidth val="6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222222222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9525">
              <a:solidFill>
                <a:srgbClr val="E7E7E7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s-MX"/>
          </a:p>
        </c:txPr>
        <c:crossAx val="111111111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solidFill>
        <a:srgbClr val="D9D9D9"/>
      </a:solidFill>
    </a:ln>
  </c:spPr>
  <c:txPr>
    <a:bodyPr/>
    <a:lstStyle/>
    <a:p>
      <a:pPr>
        <a:defRPr sz="900"/>
      </a:pPr>
      <a:endParaRPr lang="es-MX"/>
    </a:p>
  </c:txPr>
  <c:externalData r:id="rIdData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3429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685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0287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17145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057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24003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3429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685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0287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17145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057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24003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3429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685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0287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17145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057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24003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1" Type="http://schemas.openxmlformats.org/officeDocument/2006/relationships/chart" Target="../charts/chart1.xml"/><Relationship Id="rIdC2" Type="http://schemas.openxmlformats.org/officeDocument/2006/relationships/chart" Target="../charts/char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1" Type="http://schemas.openxmlformats.org/officeDocument/2006/relationships/chart" Target="../charts/char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1" Type="http://schemas.openxmlformats.org/officeDocument/2006/relationships/chart" Target="../charts/chart4.xml"/><Relationship Id="rIdC2" Type="http://schemas.openxmlformats.org/officeDocument/2006/relationships/chart" Target="../charts/chart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1" Type="http://schemas.openxmlformats.org/officeDocument/2006/relationships/chart" Target="../charts/chart6.xml"/><Relationship Id="rIdC2" Type="http://schemas.openxmlformats.org/officeDocument/2006/relationships/chart" Target="../charts/char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1" Type="http://schemas.openxmlformats.org/officeDocument/2006/relationships/chart" Target="../charts/chart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orma 3"/>
          <p:cNvSpPr/>
          <p:nvPr/>
        </p:nvSpPr>
        <p:spPr>
          <a:xfrm>
            <a:off x="0" y="5112000"/>
            <a:ext cx="12192000" cy="1745999"/>
          </a:xfrm>
          <a:prstGeom prst="rect">
            <a:avLst/>
          </a:prstGeom>
          <a:solidFill>
            <a:srgbClr val="172C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rma 4"/>
          <p:cNvSpPr/>
          <p:nvPr/>
        </p:nvSpPr>
        <p:spPr>
          <a:xfrm>
            <a:off x="540000" y="1296000"/>
            <a:ext cx="936000" cy="6120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o 5"/>
          <p:cNvSpPr txBox="1"/>
          <p:nvPr/>
        </p:nvSpPr>
        <p:spPr>
          <a:xfrm>
            <a:off x="540000" y="1512000"/>
            <a:ext cx="864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A9BEDF"/>
                </a:solidFill>
                <a:latin typeface="Calibri"/>
              </a:rPr>
              <a:t>KUGELMAN ACADEMY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540000" y="1980000"/>
            <a:ext cx="10080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4600" b="1" i="0" dirty="0">
                <a:solidFill>
                  <a:srgbClr val="FFFFFF"/>
                </a:solidFill>
                <a:latin typeface="Calibri"/>
              </a:rPr>
              <a:t>CAMPAÑA SEPTIEMBRE 2026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540000" y="2916000"/>
            <a:ext cx="1008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000" b="0" i="0" dirty="0">
                <a:solidFill>
                  <a:srgbClr val="D7E0EE"/>
                </a:solidFill>
                <a:latin typeface="Calibri"/>
              </a:rPr>
              <a:t>21 de agosto – 4 de octubre de 2026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540000" y="3420000"/>
            <a:ext cx="100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400" b="0" i="0" dirty="0">
                <a:solidFill>
                  <a:srgbClr val="9FB4D6"/>
                </a:solidFill>
                <a:latin typeface="Calibri"/>
              </a:rPr>
              <a:t>Marketing, captación y resultados comerciales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540000" y="5400000"/>
            <a:ext cx="26280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000" b="1" i="0" dirty="0">
                <a:solidFill>
                  <a:srgbClr val="8FA6CC"/>
                </a:solidFill>
                <a:latin typeface="Calibri"/>
              </a:rPr>
              <a:t>GASTO REAL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540000" y="5616000"/>
            <a:ext cx="2628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800" b="1" i="0" dirty="0">
                <a:solidFill>
                  <a:srgbClr val="FFFFFF"/>
                </a:solidFill>
                <a:latin typeface="Calibri"/>
              </a:rPr>
              <a:t>$6,999.91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3384000" y="5400000"/>
            <a:ext cx="26280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000" b="1" i="0" dirty="0">
                <a:solidFill>
                  <a:srgbClr val="8FA6CC"/>
                </a:solidFill>
                <a:latin typeface="Calibri"/>
              </a:rPr>
              <a:t>LEADS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3384000" y="5616000"/>
            <a:ext cx="2628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800" b="1" i="0" dirty="0">
                <a:solidFill>
                  <a:srgbClr val="FFFFFF"/>
                </a:solidFill>
                <a:latin typeface="Calibri"/>
              </a:rPr>
              <a:t>477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6228000" y="5400000"/>
            <a:ext cx="26280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000" b="1" i="0" dirty="0">
                <a:solidFill>
                  <a:srgbClr val="8FA6CC"/>
                </a:solidFill>
                <a:latin typeface="Calibri"/>
              </a:rPr>
              <a:t>CLASES MUESTRA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6228000" y="5616000"/>
            <a:ext cx="2628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800" b="1" i="0" dirty="0">
                <a:solidFill>
                  <a:srgbClr val="FFFFFF"/>
                </a:solidFill>
                <a:latin typeface="Calibri"/>
              </a:rPr>
              <a:t>91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9072000" y="5400000"/>
            <a:ext cx="26280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000" b="1" i="0" dirty="0">
                <a:solidFill>
                  <a:srgbClr val="8FA6CC"/>
                </a:solidFill>
                <a:latin typeface="Calibri"/>
              </a:rPr>
              <a:t>INSCRIPCIONES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9072000" y="5616000"/>
            <a:ext cx="2628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800" b="1" i="0" dirty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540000" y="6336000"/>
            <a:ext cx="1080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000" b="0" i="0" dirty="0">
                <a:solidFill>
                  <a:srgbClr val="7E94B8"/>
                </a:solidFill>
                <a:latin typeface="Calibri"/>
              </a:rPr>
              <a:t>Presentación ejecutiva para Dirección  ·  Todos los elementos son editables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La campaña en números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Periodo completo 21 ago – 4 oct 2026 · gasto real, no presupuesto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02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Forma 7"/>
          <p:cNvSpPr/>
          <p:nvPr/>
        </p:nvSpPr>
        <p:spPr>
          <a:xfrm>
            <a:off x="540000" y="120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rma 8"/>
          <p:cNvSpPr/>
          <p:nvPr/>
        </p:nvSpPr>
        <p:spPr>
          <a:xfrm>
            <a:off x="540000" y="1206000"/>
            <a:ext cx="46800" cy="120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o 9"/>
          <p:cNvSpPr txBox="1"/>
          <p:nvPr/>
        </p:nvSpPr>
        <p:spPr>
          <a:xfrm>
            <a:off x="6912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GASTO REAL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6912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1F3864"/>
                </a:solidFill>
                <a:latin typeface="Calibri"/>
              </a:rPr>
              <a:t>$6,999.91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91200" y="207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100.0% de $7,000 asignados</a:t>
            </a:r>
          </a:p>
        </p:txBody>
      </p:sp>
      <p:sp>
        <p:nvSpPr>
          <p:cNvPr id="12" name="Forma 12"/>
          <p:cNvSpPr/>
          <p:nvPr/>
        </p:nvSpPr>
        <p:spPr>
          <a:xfrm>
            <a:off x="3367800" y="120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orma 13"/>
          <p:cNvSpPr/>
          <p:nvPr/>
        </p:nvSpPr>
        <p:spPr>
          <a:xfrm>
            <a:off x="3367800" y="1206000"/>
            <a:ext cx="46800" cy="120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o 14"/>
          <p:cNvSpPr txBox="1"/>
          <p:nvPr/>
        </p:nvSpPr>
        <p:spPr>
          <a:xfrm>
            <a:off x="35190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IMPRESIONES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35190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1F3864"/>
                </a:solidFill>
                <a:latin typeface="Calibri"/>
              </a:rPr>
              <a:t>241,265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3519000" y="207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CPM $29.01</a:t>
            </a:r>
          </a:p>
        </p:txBody>
      </p:sp>
      <p:sp>
        <p:nvSpPr>
          <p:cNvPr id="17" name="Forma 17"/>
          <p:cNvSpPr/>
          <p:nvPr/>
        </p:nvSpPr>
        <p:spPr>
          <a:xfrm>
            <a:off x="6195600" y="120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orma 18"/>
          <p:cNvSpPr/>
          <p:nvPr/>
        </p:nvSpPr>
        <p:spPr>
          <a:xfrm>
            <a:off x="6195600" y="1206000"/>
            <a:ext cx="46800" cy="120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o 19"/>
          <p:cNvSpPr txBox="1"/>
          <p:nvPr/>
        </p:nvSpPr>
        <p:spPr>
          <a:xfrm>
            <a:off x="63468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CONVERSACIONES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63468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1F3864"/>
                </a:solidFill>
                <a:latin typeface="Calibri"/>
              </a:rPr>
              <a:t>565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6346800" y="207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$12.39 cada una</a:t>
            </a:r>
          </a:p>
        </p:txBody>
      </p:sp>
      <p:sp>
        <p:nvSpPr>
          <p:cNvPr id="22" name="Forma 22"/>
          <p:cNvSpPr/>
          <p:nvPr/>
        </p:nvSpPr>
        <p:spPr>
          <a:xfrm>
            <a:off x="9023400" y="120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orma 23"/>
          <p:cNvSpPr/>
          <p:nvPr/>
        </p:nvSpPr>
        <p:spPr>
          <a:xfrm>
            <a:off x="9023400" y="1206000"/>
            <a:ext cx="46800" cy="120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o 24"/>
          <p:cNvSpPr txBox="1"/>
          <p:nvPr/>
        </p:nvSpPr>
        <p:spPr>
          <a:xfrm>
            <a:off x="91746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LEADS (PERSONAS)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91746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1F3864"/>
                </a:solidFill>
                <a:latin typeface="Calibri"/>
              </a:rPr>
              <a:t>477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9174600" y="207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CPL $14.67</a:t>
            </a:r>
          </a:p>
        </p:txBody>
      </p:sp>
      <p:sp>
        <p:nvSpPr>
          <p:cNvPr id="27" name="Forma 27"/>
          <p:cNvSpPr/>
          <p:nvPr/>
        </p:nvSpPr>
        <p:spPr>
          <a:xfrm>
            <a:off x="540000" y="255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Forma 28"/>
          <p:cNvSpPr/>
          <p:nvPr/>
        </p:nvSpPr>
        <p:spPr>
          <a:xfrm>
            <a:off x="540000" y="2556000"/>
            <a:ext cx="46800" cy="12060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o 29"/>
          <p:cNvSpPr txBox="1"/>
          <p:nvPr/>
        </p:nvSpPr>
        <p:spPr>
          <a:xfrm>
            <a:off x="691200" y="266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CM AGENDADAS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691200" y="285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2E5C9A"/>
                </a:solidFill>
                <a:latin typeface="Calibri"/>
              </a:rPr>
              <a:t>91</a:t>
            </a:r>
          </a:p>
        </p:txBody>
      </p:sp>
      <p:sp>
        <p:nvSpPr>
          <p:cNvPr id="31" name="Texto 31"/>
          <p:cNvSpPr txBox="1"/>
          <p:nvPr/>
        </p:nvSpPr>
        <p:spPr>
          <a:xfrm>
            <a:off x="691200" y="342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19.1% de los leads</a:t>
            </a:r>
          </a:p>
        </p:txBody>
      </p:sp>
      <p:sp>
        <p:nvSpPr>
          <p:cNvPr id="32" name="Forma 32"/>
          <p:cNvSpPr/>
          <p:nvPr/>
        </p:nvSpPr>
        <p:spPr>
          <a:xfrm>
            <a:off x="3367800" y="255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Forma 33"/>
          <p:cNvSpPr/>
          <p:nvPr/>
        </p:nvSpPr>
        <p:spPr>
          <a:xfrm>
            <a:off x="3367800" y="2556000"/>
            <a:ext cx="46800" cy="12060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o 34"/>
          <p:cNvSpPr txBox="1"/>
          <p:nvPr/>
        </p:nvSpPr>
        <p:spPr>
          <a:xfrm>
            <a:off x="3519000" y="266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CM REALIZADAS</a:t>
            </a:r>
          </a:p>
        </p:txBody>
      </p:sp>
      <p:sp>
        <p:nvSpPr>
          <p:cNvPr id="35" name="Texto 35"/>
          <p:cNvSpPr txBox="1"/>
          <p:nvPr/>
        </p:nvSpPr>
        <p:spPr>
          <a:xfrm>
            <a:off x="3519000" y="285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2E5C9A"/>
                </a:solidFill>
                <a:latin typeface="Calibri"/>
              </a:rPr>
              <a:t>67</a:t>
            </a:r>
          </a:p>
        </p:txBody>
      </p:sp>
      <p:sp>
        <p:nvSpPr>
          <p:cNvPr id="36" name="Texto 36"/>
          <p:cNvSpPr txBox="1"/>
          <p:nvPr/>
        </p:nvSpPr>
        <p:spPr>
          <a:xfrm>
            <a:off x="3519000" y="342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73.6% de asistencia</a:t>
            </a:r>
          </a:p>
        </p:txBody>
      </p:sp>
      <p:sp>
        <p:nvSpPr>
          <p:cNvPr id="37" name="Forma 37"/>
          <p:cNvSpPr/>
          <p:nvPr/>
        </p:nvSpPr>
        <p:spPr>
          <a:xfrm>
            <a:off x="6195600" y="255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Forma 38"/>
          <p:cNvSpPr/>
          <p:nvPr/>
        </p:nvSpPr>
        <p:spPr>
          <a:xfrm>
            <a:off x="6195600" y="2556000"/>
            <a:ext cx="46800" cy="1206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o 39"/>
          <p:cNvSpPr txBox="1"/>
          <p:nvPr/>
        </p:nvSpPr>
        <p:spPr>
          <a:xfrm>
            <a:off x="6346800" y="266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INSCRIPCIONES</a:t>
            </a:r>
          </a:p>
        </p:txBody>
      </p:sp>
      <p:sp>
        <p:nvSpPr>
          <p:cNvPr id="40" name="Texto 40"/>
          <p:cNvSpPr txBox="1"/>
          <p:nvPr/>
        </p:nvSpPr>
        <p:spPr>
          <a:xfrm>
            <a:off x="6346800" y="285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2E7D5B"/>
                </a:solidFill>
                <a:latin typeface="Calibri"/>
              </a:rPr>
              <a:t>30</a:t>
            </a:r>
          </a:p>
        </p:txBody>
      </p:sp>
      <p:sp>
        <p:nvSpPr>
          <p:cNvPr id="41" name="Texto 41"/>
          <p:cNvSpPr txBox="1"/>
          <p:nvPr/>
        </p:nvSpPr>
        <p:spPr>
          <a:xfrm>
            <a:off x="6346800" y="342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23 atribuibles a campaña</a:t>
            </a:r>
          </a:p>
        </p:txBody>
      </p:sp>
      <p:sp>
        <p:nvSpPr>
          <p:cNvPr id="42" name="Forma 42"/>
          <p:cNvSpPr/>
          <p:nvPr/>
        </p:nvSpPr>
        <p:spPr>
          <a:xfrm>
            <a:off x="9023400" y="2556000"/>
            <a:ext cx="2629800" cy="12060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orma 43"/>
          <p:cNvSpPr/>
          <p:nvPr/>
        </p:nvSpPr>
        <p:spPr>
          <a:xfrm>
            <a:off x="9023400" y="2556000"/>
            <a:ext cx="46800" cy="1206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o 44"/>
          <p:cNvSpPr txBox="1"/>
          <p:nvPr/>
        </p:nvSpPr>
        <p:spPr>
          <a:xfrm>
            <a:off x="9174600" y="266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CAC</a:t>
            </a:r>
          </a:p>
        </p:txBody>
      </p:sp>
      <p:sp>
        <p:nvSpPr>
          <p:cNvPr id="45" name="Texto 45"/>
          <p:cNvSpPr txBox="1"/>
          <p:nvPr/>
        </p:nvSpPr>
        <p:spPr>
          <a:xfrm>
            <a:off x="9174600" y="285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2E7D5B"/>
                </a:solidFill>
                <a:latin typeface="Calibri"/>
              </a:rPr>
              <a:t>$304.34</a:t>
            </a:r>
          </a:p>
        </p:txBody>
      </p:sp>
      <p:sp>
        <p:nvSpPr>
          <p:cNvPr id="46" name="Texto 46"/>
          <p:cNvSpPr txBox="1"/>
          <p:nvPr/>
        </p:nvSpPr>
        <p:spPr>
          <a:xfrm>
            <a:off x="9174600" y="3420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sobre inscripciones atribuibles</a:t>
            </a:r>
          </a:p>
        </p:txBody>
      </p:sp>
      <p:sp>
        <p:nvSpPr>
          <p:cNvPr id="47" name="Forma 47"/>
          <p:cNvSpPr/>
          <p:nvPr/>
        </p:nvSpPr>
        <p:spPr>
          <a:xfrm>
            <a:off x="540000" y="3996000"/>
            <a:ext cx="11113200" cy="2124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Forma 48"/>
          <p:cNvSpPr/>
          <p:nvPr/>
        </p:nvSpPr>
        <p:spPr>
          <a:xfrm>
            <a:off x="540000" y="3996000"/>
            <a:ext cx="46800" cy="21240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exto 49"/>
          <p:cNvSpPr txBox="1"/>
          <p:nvPr/>
        </p:nvSpPr>
        <p:spPr>
          <a:xfrm>
            <a:off x="720000" y="4121999"/>
            <a:ext cx="1075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400" b="1" i="0" dirty="0">
                <a:solidFill>
                  <a:srgbClr val="1F3864"/>
                </a:solidFill>
                <a:latin typeface="Calibri"/>
              </a:rPr>
              <a:t>Lectura ejecutiva</a:t>
            </a:r>
          </a:p>
        </p:txBody>
      </p:sp>
      <p:sp>
        <p:nvSpPr>
          <p:cNvPr id="50" name="Forma 50"/>
          <p:cNvSpPr/>
          <p:nvPr/>
        </p:nvSpPr>
        <p:spPr>
          <a:xfrm>
            <a:off x="720000" y="4485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o 51"/>
          <p:cNvSpPr txBox="1"/>
          <p:nvPr/>
        </p:nvSpPr>
        <p:spPr>
          <a:xfrm>
            <a:off x="871200" y="4428000"/>
            <a:ext cx="10530000" cy="37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1F3864"/>
                </a:solidFill>
                <a:latin typeface="Calibri"/>
              </a:rPr>
              <a:t>Demanda barata.</a:t>
            </a:r>
            <a:r>
              <a:rPr lang="es-MX" sz="1200" b="0" i="0" dirty="0">
                <a:solidFill>
                  <a:srgbClr val="333333"/>
                </a:solidFill>
                <a:latin typeface="Calibri"/>
              </a:rPr>
              <a:t> Cada persona interesada costó $14.67. Generar interés no fue el problema.</a:t>
            </a:r>
          </a:p>
        </p:txBody>
      </p:sp>
      <p:sp>
        <p:nvSpPr>
          <p:cNvPr id="52" name="Forma 52"/>
          <p:cNvSpPr/>
          <p:nvPr/>
        </p:nvSpPr>
        <p:spPr>
          <a:xfrm>
            <a:off x="720000" y="4863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exto 53"/>
          <p:cNvSpPr txBox="1"/>
          <p:nvPr/>
        </p:nvSpPr>
        <p:spPr>
          <a:xfrm>
            <a:off x="871200" y="4806000"/>
            <a:ext cx="10530000" cy="37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1F3864"/>
                </a:solidFill>
                <a:latin typeface="Calibri"/>
              </a:rPr>
              <a:t>Conversión alta al final del embudo.</a:t>
            </a:r>
            <a:r>
              <a:rPr lang="es-MX" sz="1200" b="0" i="0" dirty="0">
                <a:solidFill>
                  <a:srgbClr val="333333"/>
                </a:solidFill>
                <a:latin typeface="Calibri"/>
              </a:rPr>
              <a:t> 73.6% de asistencia a clase muestra y 46.2% de cierre.</a:t>
            </a:r>
          </a:p>
        </p:txBody>
      </p:sp>
      <p:sp>
        <p:nvSpPr>
          <p:cNvPr id="54" name="Forma 54"/>
          <p:cNvSpPr/>
          <p:nvPr/>
        </p:nvSpPr>
        <p:spPr>
          <a:xfrm>
            <a:off x="720000" y="5241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exto 55"/>
          <p:cNvSpPr txBox="1"/>
          <p:nvPr/>
        </p:nvSpPr>
        <p:spPr>
          <a:xfrm>
            <a:off x="871200" y="5184000"/>
            <a:ext cx="10530000" cy="37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1F3864"/>
                </a:solidFill>
                <a:latin typeface="Calibri"/>
              </a:rPr>
              <a:t>Pérdida concentrada en un solo paso.</a:t>
            </a:r>
            <a:r>
              <a:rPr lang="es-MX" sz="1200" b="0" i="0" dirty="0">
                <a:solidFill>
                  <a:srgbClr val="333333"/>
                </a:solidFill>
                <a:latin typeface="Calibri"/>
              </a:rPr>
              <a:t> Solo 19.1% de los leads llegó a clase muestra: 390 personas se quedaron en el camino.</a:t>
            </a:r>
          </a:p>
        </p:txBody>
      </p:sp>
      <p:sp>
        <p:nvSpPr>
          <p:cNvPr id="56" name="Forma 56"/>
          <p:cNvSpPr/>
          <p:nvPr/>
        </p:nvSpPr>
        <p:spPr>
          <a:xfrm>
            <a:off x="720000" y="5619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exto 57"/>
          <p:cNvSpPr txBox="1"/>
          <p:nvPr/>
        </p:nvSpPr>
        <p:spPr>
          <a:xfrm>
            <a:off x="871200" y="5562000"/>
            <a:ext cx="10530000" cy="37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1F3864"/>
                </a:solidFill>
                <a:latin typeface="Calibri"/>
              </a:rPr>
              <a:t>Presupuesto ejecutado al 100%.</a:t>
            </a:r>
            <a:r>
              <a:rPr lang="es-MX" sz="1200" b="0" i="0" dirty="0">
                <a:solidFill>
                  <a:srgbClr val="333333"/>
                </a:solidFill>
                <a:latin typeface="Calibri"/>
              </a:rPr>
              <a:t> Gasto real $6,999.91 de $7,000 asignados.</a:t>
            </a:r>
          </a:p>
        </p:txBody>
      </p:sp>
      <p:cxnSp>
        <p:nvCxnSpPr>
          <p:cNvPr id="58" name="Linea 58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59" name="Texto 59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Fuente: Meta Ads (8 anuncios) · CRM de campaña deduplicado · bitácora de clases muestra · padrón de alumnos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Alcance y generación de prospectos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Qué compró la inversión: entrega publicitaria y demanda identificable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03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Forma 7"/>
          <p:cNvSpPr/>
          <p:nvPr/>
        </p:nvSpPr>
        <p:spPr>
          <a:xfrm>
            <a:off x="5400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rma 8"/>
          <p:cNvSpPr/>
          <p:nvPr/>
        </p:nvSpPr>
        <p:spPr>
          <a:xfrm>
            <a:off x="540000" y="1206000"/>
            <a:ext cx="46800" cy="115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o 9"/>
          <p:cNvSpPr txBox="1"/>
          <p:nvPr/>
        </p:nvSpPr>
        <p:spPr>
          <a:xfrm>
            <a:off x="6912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INVERSIÓN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6912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1F3864"/>
                </a:solidFill>
                <a:latin typeface="Calibri"/>
              </a:rPr>
              <a:t>$6,999.91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912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100.0% del presupuesto</a:t>
            </a:r>
          </a:p>
        </p:txBody>
      </p:sp>
      <p:sp>
        <p:nvSpPr>
          <p:cNvPr id="12" name="Forma 12"/>
          <p:cNvSpPr/>
          <p:nvPr/>
        </p:nvSpPr>
        <p:spPr>
          <a:xfrm>
            <a:off x="33678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orma 13"/>
          <p:cNvSpPr/>
          <p:nvPr/>
        </p:nvSpPr>
        <p:spPr>
          <a:xfrm>
            <a:off x="3367800" y="1206000"/>
            <a:ext cx="46800" cy="115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o 14"/>
          <p:cNvSpPr txBox="1"/>
          <p:nvPr/>
        </p:nvSpPr>
        <p:spPr>
          <a:xfrm>
            <a:off x="35190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IMPRESIONES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35190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1F3864"/>
                </a:solidFill>
                <a:latin typeface="Calibri"/>
              </a:rPr>
              <a:t>241,265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35190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Frecuencia 2.47 – 3.21</a:t>
            </a:r>
          </a:p>
        </p:txBody>
      </p:sp>
      <p:sp>
        <p:nvSpPr>
          <p:cNvPr id="17" name="Forma 17"/>
          <p:cNvSpPr/>
          <p:nvPr/>
        </p:nvSpPr>
        <p:spPr>
          <a:xfrm>
            <a:off x="61956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orma 18"/>
          <p:cNvSpPr/>
          <p:nvPr/>
        </p:nvSpPr>
        <p:spPr>
          <a:xfrm>
            <a:off x="6195600" y="1206000"/>
            <a:ext cx="46800" cy="11520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o 19"/>
          <p:cNvSpPr txBox="1"/>
          <p:nvPr/>
        </p:nvSpPr>
        <p:spPr>
          <a:xfrm>
            <a:off x="63468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ALCANCE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63468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2E5C9A"/>
                </a:solidFill>
                <a:latin typeface="Calibri"/>
              </a:rPr>
              <a:t>≥ 75,110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63468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rango 75,110 – 97,823</a:t>
            </a:r>
          </a:p>
        </p:txBody>
      </p:sp>
      <p:sp>
        <p:nvSpPr>
          <p:cNvPr id="22" name="Forma 22"/>
          <p:cNvSpPr/>
          <p:nvPr/>
        </p:nvSpPr>
        <p:spPr>
          <a:xfrm>
            <a:off x="90234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orma 23"/>
          <p:cNvSpPr/>
          <p:nvPr/>
        </p:nvSpPr>
        <p:spPr>
          <a:xfrm>
            <a:off x="9023400" y="1206000"/>
            <a:ext cx="46800" cy="115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o 24"/>
          <p:cNvSpPr txBox="1"/>
          <p:nvPr/>
        </p:nvSpPr>
        <p:spPr>
          <a:xfrm>
            <a:off x="91746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CONVERSACIONES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91746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700" b="1" i="0" dirty="0">
                <a:solidFill>
                  <a:srgbClr val="1F3864"/>
                </a:solidFill>
                <a:latin typeface="Calibri"/>
              </a:rPr>
              <a:t>565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91746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$12.39 por conversación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540000" y="5940000"/>
            <a:ext cx="1111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565 conversaciones en Meta frente a 499 registros capturados en el CRM: 66 conversaciones no dejaron rastro (cobertura de registro 88.3%). El alcance único de campaña no fue exportado por Meta, por eso se reporta como rango.</a:t>
            </a:r>
          </a:p>
        </p:txBody>
      </p:sp>
      <p:cxnSp>
        <p:nvCxnSpPr>
          <p:cNvPr id="28" name="Linea 28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29" name="Texto 29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El alcance por anuncio no es sumable sin duplicación · CTR y CPC no son calculables: la exportación no incluye clics</a:t>
            </a:r>
          </a:p>
        </p:txBody>
      </p:sp>
      <p:graphicFrame>
        <p:nvGraphicFramePr>
          <p:cNvPr id="901" name="Gráfico 1"/>
          <p:cNvGraphicFramePr>
            <a:graphicFrameLocks/>
          </p:cNvGraphicFramePr>
          <p:nvPr/>
        </p:nvGraphicFramePr>
        <p:xfrm>
          <a:off x="540000" y="2556000"/>
          <a:ext cx="5412599" cy="32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1"/>
          </a:graphicData>
        </a:graphic>
      </p:graphicFrame>
      <p:graphicFrame>
        <p:nvGraphicFramePr>
          <p:cNvPr id="902" name="Gráfico 2"/>
          <p:cNvGraphicFramePr>
            <a:graphicFrameLocks/>
          </p:cNvGraphicFramePr>
          <p:nvPr/>
        </p:nvGraphicFramePr>
        <p:xfrm>
          <a:off x="6240599" y="2556000"/>
          <a:ext cx="5412599" cy="32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Funnel comercial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Leads → CM agendadas → CM realizadas → Inscritos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04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Forma 7"/>
          <p:cNvSpPr/>
          <p:nvPr/>
        </p:nvSpPr>
        <p:spPr>
          <a:xfrm>
            <a:off x="540000" y="1260000"/>
            <a:ext cx="6120000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o 8"/>
          <p:cNvSpPr txBox="1"/>
          <p:nvPr/>
        </p:nvSpPr>
        <p:spPr>
          <a:xfrm>
            <a:off x="720000" y="1260000"/>
            <a:ext cx="5760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FFFFFF"/>
                </a:solidFill>
                <a:latin typeface="Calibri"/>
              </a:rPr>
              <a:t>Leads (personas)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5148000" y="1260000"/>
            <a:ext cx="133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 b="1" i="0" dirty="0">
                <a:solidFill>
                  <a:srgbClr val="FFFFFF"/>
                </a:solidFill>
                <a:latin typeface="Calibri"/>
              </a:rPr>
              <a:t>477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6876000" y="1260000"/>
            <a:ext cx="151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1F3864"/>
                </a:solidFill>
                <a:latin typeface="Calibri"/>
              </a:rPr>
              <a:t>—</a:t>
            </a:r>
          </a:p>
        </p:txBody>
      </p:sp>
      <p:sp>
        <p:nvSpPr>
          <p:cNvPr id="11" name="Forma 11"/>
          <p:cNvSpPr/>
          <p:nvPr/>
        </p:nvSpPr>
        <p:spPr>
          <a:xfrm>
            <a:off x="540000" y="2304000"/>
            <a:ext cx="3672000" cy="827999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o 12"/>
          <p:cNvSpPr txBox="1"/>
          <p:nvPr/>
        </p:nvSpPr>
        <p:spPr>
          <a:xfrm>
            <a:off x="720000" y="2304000"/>
            <a:ext cx="331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FFFFFF"/>
                </a:solidFill>
                <a:latin typeface="Calibri"/>
              </a:rPr>
              <a:t>CM agendadas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2700000" y="2304000"/>
            <a:ext cx="133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 b="1" i="0" dirty="0">
                <a:solidFill>
                  <a:srgbClr val="FFFFFF"/>
                </a:solidFill>
                <a:latin typeface="Calibri"/>
              </a:rPr>
              <a:t>91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6876000" y="2304000"/>
            <a:ext cx="151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2E5C9A"/>
                </a:solidFill>
                <a:latin typeface="Calibri"/>
              </a:rPr>
              <a:t>19.1%</a:t>
            </a:r>
          </a:p>
        </p:txBody>
      </p:sp>
      <p:sp>
        <p:nvSpPr>
          <p:cNvPr id="15" name="Forma 15"/>
          <p:cNvSpPr/>
          <p:nvPr/>
        </p:nvSpPr>
        <p:spPr>
          <a:xfrm>
            <a:off x="540000" y="3348000"/>
            <a:ext cx="2692800" cy="827999"/>
          </a:xfrm>
          <a:prstGeom prst="rect">
            <a:avLst/>
          </a:prstGeom>
          <a:solidFill>
            <a:srgbClr val="46A3B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o 16"/>
          <p:cNvSpPr txBox="1"/>
          <p:nvPr/>
        </p:nvSpPr>
        <p:spPr>
          <a:xfrm>
            <a:off x="720000" y="3348000"/>
            <a:ext cx="23328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FFFFFF"/>
                </a:solidFill>
                <a:latin typeface="Calibri"/>
              </a:rPr>
              <a:t>CM realizadas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1720800" y="3348000"/>
            <a:ext cx="133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 b="1" i="0" dirty="0">
                <a:solidFill>
                  <a:srgbClr val="FFFFFF"/>
                </a:solidFill>
                <a:latin typeface="Calibri"/>
              </a:rPr>
              <a:t>67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6876000" y="3348000"/>
            <a:ext cx="151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46A3B0"/>
                </a:solidFill>
                <a:latin typeface="Calibri"/>
              </a:rPr>
              <a:t>73.6%</a:t>
            </a:r>
          </a:p>
        </p:txBody>
      </p:sp>
      <p:sp>
        <p:nvSpPr>
          <p:cNvPr id="19" name="Forma 19"/>
          <p:cNvSpPr/>
          <p:nvPr/>
        </p:nvSpPr>
        <p:spPr>
          <a:xfrm>
            <a:off x="540000" y="4392000"/>
            <a:ext cx="1591200" cy="827999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o 20"/>
          <p:cNvSpPr txBox="1"/>
          <p:nvPr/>
        </p:nvSpPr>
        <p:spPr>
          <a:xfrm>
            <a:off x="720000" y="4392000"/>
            <a:ext cx="12312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FFFFFF"/>
                </a:solidFill>
                <a:latin typeface="Calibri"/>
              </a:rPr>
              <a:t>Inscripciones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619200" y="4392000"/>
            <a:ext cx="133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 b="1" i="0" dirty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22" name="Texto 22"/>
          <p:cNvSpPr txBox="1"/>
          <p:nvPr/>
        </p:nvSpPr>
        <p:spPr>
          <a:xfrm>
            <a:off x="6876000" y="4392000"/>
            <a:ext cx="151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2E7D5B"/>
                </a:solidFill>
                <a:latin typeface="Calibri"/>
              </a:rPr>
              <a:t>46.2%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6876000" y="1080000"/>
            <a:ext cx="151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7A7A7A"/>
                </a:solidFill>
                <a:latin typeface="Calibri"/>
              </a:rPr>
              <a:t>CONVERSIÓN</a:t>
            </a:r>
          </a:p>
        </p:txBody>
      </p:sp>
      <p:sp>
        <p:nvSpPr>
          <p:cNvPr id="24" name="Forma 24"/>
          <p:cNvSpPr/>
          <p:nvPr/>
        </p:nvSpPr>
        <p:spPr>
          <a:xfrm>
            <a:off x="8892000" y="1260000"/>
            <a:ext cx="2761199" cy="4752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orma 25"/>
          <p:cNvSpPr/>
          <p:nvPr/>
        </p:nvSpPr>
        <p:spPr>
          <a:xfrm>
            <a:off x="8892000" y="1260000"/>
            <a:ext cx="46800" cy="4752000"/>
          </a:xfrm>
          <a:prstGeom prst="rect">
            <a:avLst/>
          </a:prstGeom>
          <a:solidFill>
            <a:srgbClr val="B23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o 26"/>
          <p:cNvSpPr txBox="1"/>
          <p:nvPr/>
        </p:nvSpPr>
        <p:spPr>
          <a:xfrm>
            <a:off x="9072000" y="1386000"/>
            <a:ext cx="2988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400" b="1" i="0" dirty="0">
                <a:solidFill>
                  <a:srgbClr val="1F3864"/>
                </a:solidFill>
                <a:latin typeface="Calibri"/>
              </a:rPr>
              <a:t>Dónde se pierde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9072000" y="1745999"/>
            <a:ext cx="29880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Nunca agenda clase muestra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9072000" y="1969199"/>
            <a:ext cx="180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300" b="1" i="0" dirty="0">
                <a:solidFill>
                  <a:srgbClr val="B23A33"/>
                </a:solidFill>
                <a:latin typeface="Calibri"/>
              </a:rPr>
              <a:t>390</a:t>
            </a:r>
            <a:r>
              <a:rPr lang="es-MX" sz="1200" b="0" i="0" dirty="0">
                <a:solidFill>
                  <a:srgbClr val="7A7A7A"/>
                </a:solidFill>
                <a:latin typeface="Calibri"/>
              </a:rPr>
              <a:t>  81.8%</a:t>
            </a:r>
          </a:p>
        </p:txBody>
      </p:sp>
      <p:sp>
        <p:nvSpPr>
          <p:cNvPr id="29" name="Texto 29"/>
          <p:cNvSpPr txBox="1"/>
          <p:nvPr/>
        </p:nvSpPr>
        <p:spPr>
          <a:xfrm>
            <a:off x="9072000" y="2519999"/>
            <a:ext cx="29880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Agenda y no asiste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9072000" y="2743199"/>
            <a:ext cx="180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300" b="1" i="0" dirty="0">
                <a:solidFill>
                  <a:srgbClr val="C98A1B"/>
                </a:solidFill>
                <a:latin typeface="Calibri"/>
              </a:rPr>
              <a:t>20</a:t>
            </a:r>
            <a:r>
              <a:rPr lang="es-MX" sz="1200" b="0" i="0" dirty="0">
                <a:solidFill>
                  <a:srgbClr val="7A7A7A"/>
                </a:solidFill>
                <a:latin typeface="Calibri"/>
              </a:rPr>
              <a:t>  4.2%</a:t>
            </a:r>
          </a:p>
        </p:txBody>
      </p:sp>
      <p:sp>
        <p:nvSpPr>
          <p:cNvPr id="31" name="Texto 31"/>
          <p:cNvSpPr txBox="1"/>
          <p:nvPr/>
        </p:nvSpPr>
        <p:spPr>
          <a:xfrm>
            <a:off x="9072000" y="3293999"/>
            <a:ext cx="29880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Asiste y no se inscribe</a:t>
            </a:r>
          </a:p>
        </p:txBody>
      </p:sp>
      <p:sp>
        <p:nvSpPr>
          <p:cNvPr id="32" name="Texto 32"/>
          <p:cNvSpPr txBox="1"/>
          <p:nvPr/>
        </p:nvSpPr>
        <p:spPr>
          <a:xfrm>
            <a:off x="9072000" y="3517199"/>
            <a:ext cx="180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300" b="1" i="0" dirty="0">
                <a:solidFill>
                  <a:srgbClr val="8C8C8C"/>
                </a:solidFill>
                <a:latin typeface="Calibri"/>
              </a:rPr>
              <a:t>35</a:t>
            </a:r>
            <a:r>
              <a:rPr lang="es-MX" sz="1200" b="0" i="0" dirty="0">
                <a:solidFill>
                  <a:srgbClr val="7A7A7A"/>
                </a:solidFill>
                <a:latin typeface="Calibri"/>
              </a:rPr>
              <a:t>  7.3%</a:t>
            </a:r>
          </a:p>
        </p:txBody>
      </p:sp>
      <p:sp>
        <p:nvSpPr>
          <p:cNvPr id="33" name="Texto 33"/>
          <p:cNvSpPr txBox="1"/>
          <p:nvPr/>
        </p:nvSpPr>
        <p:spPr>
          <a:xfrm>
            <a:off x="9072000" y="4176000"/>
            <a:ext cx="2988000" cy="169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B23A33"/>
                </a:solidFill>
                <a:latin typeface="Calibri"/>
              </a:rPr>
              <a:t>El 87.6% de toda la pérdida del embudo ocurre ANTES de que exista una clase muestra agendada.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s-MX" sz="1150" b="0" i="0" dirty="0">
                <a:solidFill>
                  <a:srgbClr val="4D4D4D"/>
                </a:solidFill>
                <a:latin typeface="Calibri"/>
              </a:rPr>
              <a:t>No es un problema de pauta ni de cierre: es agendamiento y seguimiento.</a:t>
            </a:r>
          </a:p>
        </p:txBody>
      </p:sp>
      <p:cxnSp>
        <p:nvCxnSpPr>
          <p:cNvPr id="34" name="Linea 34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35" name="Texto 35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Lead → CM 19.1% · CM → realizada 73.6% · CM realizada → inscripción 46.2% · Lead → inscripción 6.3%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Clases muestra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El activo comercial más rentable de la academia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05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Forma 7"/>
          <p:cNvSpPr/>
          <p:nvPr/>
        </p:nvSpPr>
        <p:spPr>
          <a:xfrm>
            <a:off x="540000" y="1206000"/>
            <a:ext cx="2078639" cy="1116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rma 8"/>
          <p:cNvSpPr/>
          <p:nvPr/>
        </p:nvSpPr>
        <p:spPr>
          <a:xfrm>
            <a:off x="540000" y="1206000"/>
            <a:ext cx="46800" cy="111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o 9"/>
          <p:cNvSpPr txBox="1"/>
          <p:nvPr/>
        </p:nvSpPr>
        <p:spPr>
          <a:xfrm>
            <a:off x="691200" y="1314000"/>
            <a:ext cx="1862639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AGENDADAS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691200" y="1501200"/>
            <a:ext cx="1862639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i="0" dirty="0">
                <a:solidFill>
                  <a:srgbClr val="1F3864"/>
                </a:solidFill>
                <a:latin typeface="Calibri"/>
              </a:rPr>
              <a:t>91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91200" y="1980000"/>
            <a:ext cx="186263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87 personas</a:t>
            </a:r>
          </a:p>
        </p:txBody>
      </p:sp>
      <p:sp>
        <p:nvSpPr>
          <p:cNvPr id="12" name="Forma 12"/>
          <p:cNvSpPr/>
          <p:nvPr/>
        </p:nvSpPr>
        <p:spPr>
          <a:xfrm>
            <a:off x="2798639" y="1206000"/>
            <a:ext cx="2078639" cy="1116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orma 13"/>
          <p:cNvSpPr/>
          <p:nvPr/>
        </p:nvSpPr>
        <p:spPr>
          <a:xfrm>
            <a:off x="2798639" y="1206000"/>
            <a:ext cx="46800" cy="1116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o 14"/>
          <p:cNvSpPr txBox="1"/>
          <p:nvPr/>
        </p:nvSpPr>
        <p:spPr>
          <a:xfrm>
            <a:off x="2949839" y="1314000"/>
            <a:ext cx="1862639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REALIZADAS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2949839" y="1501200"/>
            <a:ext cx="1862639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i="0" dirty="0">
                <a:solidFill>
                  <a:srgbClr val="2E7D5B"/>
                </a:solidFill>
                <a:latin typeface="Calibri"/>
              </a:rPr>
              <a:t>67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2949839" y="1980000"/>
            <a:ext cx="186263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73.6% asistencia</a:t>
            </a:r>
          </a:p>
        </p:txBody>
      </p:sp>
      <p:sp>
        <p:nvSpPr>
          <p:cNvPr id="17" name="Forma 17"/>
          <p:cNvSpPr/>
          <p:nvPr/>
        </p:nvSpPr>
        <p:spPr>
          <a:xfrm>
            <a:off x="5057279" y="1206000"/>
            <a:ext cx="2078639" cy="1116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orma 18"/>
          <p:cNvSpPr/>
          <p:nvPr/>
        </p:nvSpPr>
        <p:spPr>
          <a:xfrm>
            <a:off x="5057279" y="1206000"/>
            <a:ext cx="46800" cy="1116000"/>
          </a:xfrm>
          <a:prstGeom prst="rect">
            <a:avLst/>
          </a:prstGeom>
          <a:solidFill>
            <a:srgbClr val="B23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o 19"/>
          <p:cNvSpPr txBox="1"/>
          <p:nvPr/>
        </p:nvSpPr>
        <p:spPr>
          <a:xfrm>
            <a:off x="5208479" y="1314000"/>
            <a:ext cx="1862639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NO SHOW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5208479" y="1501200"/>
            <a:ext cx="1862639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i="0" dirty="0">
                <a:solidFill>
                  <a:srgbClr val="B23A33"/>
                </a:solidFill>
                <a:latin typeface="Calibri"/>
              </a:rPr>
              <a:t>20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5208479" y="1980000"/>
            <a:ext cx="186263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22.0%</a:t>
            </a:r>
          </a:p>
        </p:txBody>
      </p:sp>
      <p:sp>
        <p:nvSpPr>
          <p:cNvPr id="22" name="Forma 22"/>
          <p:cNvSpPr/>
          <p:nvPr/>
        </p:nvSpPr>
        <p:spPr>
          <a:xfrm>
            <a:off x="7315919" y="1206000"/>
            <a:ext cx="2078639" cy="1116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orma 23"/>
          <p:cNvSpPr/>
          <p:nvPr/>
        </p:nvSpPr>
        <p:spPr>
          <a:xfrm>
            <a:off x="7315919" y="1206000"/>
            <a:ext cx="46800" cy="11160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o 24"/>
          <p:cNvSpPr txBox="1"/>
          <p:nvPr/>
        </p:nvSpPr>
        <p:spPr>
          <a:xfrm>
            <a:off x="7467119" y="1314000"/>
            <a:ext cx="1862639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REPROGRAMADAS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7467119" y="1501200"/>
            <a:ext cx="1862639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i="0" dirty="0">
                <a:solidFill>
                  <a:srgbClr val="C98A1B"/>
                </a:solidFill>
                <a:latin typeface="Calibri"/>
              </a:rPr>
              <a:t>1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467119" y="1980000"/>
            <a:ext cx="186263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1.1%</a:t>
            </a:r>
          </a:p>
        </p:txBody>
      </p:sp>
      <p:sp>
        <p:nvSpPr>
          <p:cNvPr id="27" name="Forma 27"/>
          <p:cNvSpPr/>
          <p:nvPr/>
        </p:nvSpPr>
        <p:spPr>
          <a:xfrm>
            <a:off x="9574559" y="1206000"/>
            <a:ext cx="2078639" cy="1116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Forma 28"/>
          <p:cNvSpPr/>
          <p:nvPr/>
        </p:nvSpPr>
        <p:spPr>
          <a:xfrm>
            <a:off x="9574559" y="1206000"/>
            <a:ext cx="46800" cy="1116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o 29"/>
          <p:cNvSpPr txBox="1"/>
          <p:nvPr/>
        </p:nvSpPr>
        <p:spPr>
          <a:xfrm>
            <a:off x="9725759" y="1314000"/>
            <a:ext cx="1862639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PENDIENTES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9725759" y="1501200"/>
            <a:ext cx="1862639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i="0" dirty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31" name="Texto 31"/>
          <p:cNvSpPr txBox="1"/>
          <p:nvPr/>
        </p:nvSpPr>
        <p:spPr>
          <a:xfrm>
            <a:off x="9725759" y="1980000"/>
            <a:ext cx="186263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al 4 de octubre</a:t>
            </a:r>
          </a:p>
        </p:txBody>
      </p:sp>
      <p:sp>
        <p:nvSpPr>
          <p:cNvPr id="32" name="Texto 32"/>
          <p:cNvSpPr txBox="1"/>
          <p:nvPr/>
        </p:nvSpPr>
        <p:spPr>
          <a:xfrm>
            <a:off x="6083999" y="2484000"/>
            <a:ext cx="556919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1F3864"/>
                </a:solidFill>
                <a:latin typeface="Calibri"/>
              </a:rPr>
              <a:t>Desempeño por programa</a:t>
            </a:r>
          </a:p>
        </p:txBody>
      </p:sp>
      <p:graphicFrame>
        <p:nvGraphicFramePr>
          <p:cNvPr id="33" name="Tabla 33"/>
          <p:cNvGraphicFramePr>
            <a:graphicFrameLocks noGrp="1"/>
          </p:cNvGraphicFramePr>
          <p:nvPr/>
        </p:nvGraphicFramePr>
        <p:xfrm>
          <a:off x="6083999" y="2772000"/>
          <a:ext cx="5569199" cy="1476000"/>
        </p:xfrm>
        <a:graphic>
          <a:graphicData uri="http://schemas.openxmlformats.org/drawingml/2006/table">
            <a:tbl>
              <a:tblPr firstRow="1" bandRow="0"/>
              <a:tblGrid>
                <a:gridCol w="1439231"/>
                <a:gridCol w="813478"/>
                <a:gridCol w="813478"/>
                <a:gridCol w="813478"/>
                <a:gridCol w="813478"/>
                <a:gridCol w="876053"/>
              </a:tblGrid>
              <a:tr h="295200"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Programa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Agend.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Realiz.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Insc.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Asist.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College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71.4%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Kids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65.4%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52.9%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81.0%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47.1%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Parenthood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85.7%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4" name="Texto 34"/>
          <p:cNvSpPr txBox="1"/>
          <p:nvPr/>
        </p:nvSpPr>
        <p:spPr>
          <a:xfrm>
            <a:off x="6083999" y="4788000"/>
            <a:ext cx="5569199" cy="108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1" i="0" dirty="0">
                <a:solidFill>
                  <a:srgbClr val="1F3864"/>
                </a:solidFill>
                <a:latin typeface="Calibri"/>
              </a:rPr>
              <a:t>Diagnóstico: </a:t>
            </a:r>
            <a:r>
              <a:rPr lang="es-MX" sz="1150" b="0" i="0" dirty="0">
                <a:solidFill>
                  <a:srgbClr val="4D4D4D"/>
                </a:solidFill>
                <a:latin typeface="Calibri"/>
              </a:rPr>
              <a:t>la asistencia (73.6%) y el cierre (46.2%) están sanos. La reprogramación es irrelevante (1 caso). El problema no está aquí.</a:t>
            </a:r>
          </a:p>
        </p:txBody>
      </p:sp>
      <p:cxnSp>
        <p:nvCxnSpPr>
          <p:cNvPr id="35" name="Linea 35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36" name="Texto 36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Horario más demandado: 16:00 h (23 clases) · 78.0% de las clases se agendaron por WhatsApp</a:t>
            </a:r>
          </a:p>
        </p:txBody>
      </p:sp>
      <p:graphicFrame>
        <p:nvGraphicFramePr>
          <p:cNvPr id="901" name="Gráfico 1"/>
          <p:cNvGraphicFramePr>
            <a:graphicFrameLocks/>
          </p:cNvGraphicFramePr>
          <p:nvPr/>
        </p:nvGraphicFramePr>
        <p:xfrm>
          <a:off x="540000" y="2484000"/>
          <a:ext cx="5256000" cy="33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Inscripciones y conversión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Resultado comercial del periodo y su atribución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06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Forma 7"/>
          <p:cNvSpPr/>
          <p:nvPr/>
        </p:nvSpPr>
        <p:spPr>
          <a:xfrm>
            <a:off x="5400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rma 8"/>
          <p:cNvSpPr/>
          <p:nvPr/>
        </p:nvSpPr>
        <p:spPr>
          <a:xfrm>
            <a:off x="540000" y="1206000"/>
            <a:ext cx="46800" cy="1152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o 9"/>
          <p:cNvSpPr txBox="1"/>
          <p:nvPr/>
        </p:nvSpPr>
        <p:spPr>
          <a:xfrm>
            <a:off x="6912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INSCRIPCIONES CONFIRMADAS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6912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500" b="1" i="0" dirty="0">
                <a:solidFill>
                  <a:srgbClr val="2E7D5B"/>
                </a:solidFill>
                <a:latin typeface="Calibri"/>
              </a:rPr>
              <a:t>30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912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32 eventos de inscripción</a:t>
            </a:r>
          </a:p>
        </p:txBody>
      </p:sp>
      <p:sp>
        <p:nvSpPr>
          <p:cNvPr id="12" name="Forma 12"/>
          <p:cNvSpPr/>
          <p:nvPr/>
        </p:nvSpPr>
        <p:spPr>
          <a:xfrm>
            <a:off x="33678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orma 13"/>
          <p:cNvSpPr/>
          <p:nvPr/>
        </p:nvSpPr>
        <p:spPr>
          <a:xfrm>
            <a:off x="3367800" y="1206000"/>
            <a:ext cx="46800" cy="115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o 14"/>
          <p:cNvSpPr txBox="1"/>
          <p:nvPr/>
        </p:nvSpPr>
        <p:spPr>
          <a:xfrm>
            <a:off x="35190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ATRIBUIBLES A CAMPAÑA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35190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500" b="1" i="0" dirty="0">
                <a:solidFill>
                  <a:srgbClr val="1F3864"/>
                </a:solidFill>
                <a:latin typeface="Calibri"/>
              </a:rPr>
              <a:t>23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35190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76.7% del total</a:t>
            </a:r>
          </a:p>
        </p:txBody>
      </p:sp>
      <p:sp>
        <p:nvSpPr>
          <p:cNvPr id="17" name="Forma 17"/>
          <p:cNvSpPr/>
          <p:nvPr/>
        </p:nvSpPr>
        <p:spPr>
          <a:xfrm>
            <a:off x="61956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orma 18"/>
          <p:cNvSpPr/>
          <p:nvPr/>
        </p:nvSpPr>
        <p:spPr>
          <a:xfrm>
            <a:off x="6195600" y="1206000"/>
            <a:ext cx="46800" cy="1152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o 19"/>
          <p:cNvSpPr txBox="1"/>
          <p:nvPr/>
        </p:nvSpPr>
        <p:spPr>
          <a:xfrm>
            <a:off x="63468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CIERRE TRAS CLASE MUESTRA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63468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500" b="1" i="0" dirty="0">
                <a:solidFill>
                  <a:srgbClr val="2E7D5B"/>
                </a:solidFill>
                <a:latin typeface="Calibri"/>
              </a:rPr>
              <a:t>46.2%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63468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punto más fuerte del embudo</a:t>
            </a:r>
          </a:p>
        </p:txBody>
      </p:sp>
      <p:sp>
        <p:nvSpPr>
          <p:cNvPr id="22" name="Forma 22"/>
          <p:cNvSpPr/>
          <p:nvPr/>
        </p:nvSpPr>
        <p:spPr>
          <a:xfrm>
            <a:off x="9023400" y="1206000"/>
            <a:ext cx="2629800" cy="1152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orma 23"/>
          <p:cNvSpPr/>
          <p:nvPr/>
        </p:nvSpPr>
        <p:spPr>
          <a:xfrm>
            <a:off x="9023400" y="1206000"/>
            <a:ext cx="46800" cy="115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o 24"/>
          <p:cNvSpPr txBox="1"/>
          <p:nvPr/>
        </p:nvSpPr>
        <p:spPr>
          <a:xfrm>
            <a:off x="9174600" y="1314000"/>
            <a:ext cx="24138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1" i="0" dirty="0">
                <a:solidFill>
                  <a:srgbClr val="5E5E5E"/>
                </a:solidFill>
                <a:latin typeface="Calibri"/>
              </a:rPr>
              <a:t>CAC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9174600" y="1501200"/>
            <a:ext cx="24138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500" b="1" i="0" dirty="0">
                <a:solidFill>
                  <a:srgbClr val="1F3864"/>
                </a:solidFill>
                <a:latin typeface="Calibri"/>
              </a:rPr>
              <a:t>$304.34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9174600" y="2016000"/>
            <a:ext cx="24138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6E6E6E"/>
                </a:solidFill>
                <a:latin typeface="Calibri"/>
              </a:rPr>
              <a:t>$233.33 si se cuentan todas</a:t>
            </a:r>
          </a:p>
        </p:txBody>
      </p:sp>
      <p:sp>
        <p:nvSpPr>
          <p:cNvPr id="27" name="Forma 27"/>
          <p:cNvSpPr/>
          <p:nvPr/>
        </p:nvSpPr>
        <p:spPr>
          <a:xfrm>
            <a:off x="8604000" y="2520000"/>
            <a:ext cx="3049199" cy="3311999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Forma 28"/>
          <p:cNvSpPr/>
          <p:nvPr/>
        </p:nvSpPr>
        <p:spPr>
          <a:xfrm>
            <a:off x="8604000" y="2520000"/>
            <a:ext cx="46800" cy="3311999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o 29"/>
          <p:cNvSpPr txBox="1"/>
          <p:nvPr/>
        </p:nvSpPr>
        <p:spPr>
          <a:xfrm>
            <a:off x="8766000" y="2628000"/>
            <a:ext cx="2916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1F3864"/>
                </a:solidFill>
                <a:latin typeface="Calibri"/>
              </a:rPr>
              <a:t>De dónde vinieron</a:t>
            </a:r>
          </a:p>
        </p:txBody>
      </p:sp>
      <p:sp>
        <p:nvSpPr>
          <p:cNvPr id="30" name="Forma 30"/>
          <p:cNvSpPr/>
          <p:nvPr/>
        </p:nvSpPr>
        <p:spPr>
          <a:xfrm>
            <a:off x="8766000" y="3027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o 31"/>
          <p:cNvSpPr txBox="1"/>
          <p:nvPr/>
        </p:nvSpPr>
        <p:spPr>
          <a:xfrm>
            <a:off x="8917200" y="2970000"/>
            <a:ext cx="2836800" cy="68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1" i="0" dirty="0">
                <a:solidFill>
                  <a:srgbClr val="1F3864"/>
                </a:solidFill>
                <a:latin typeface="Calibri"/>
              </a:rPr>
              <a:t>23 de 30</a:t>
            </a: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 con lead identificado en el CRM de campaña.</a:t>
            </a:r>
          </a:p>
        </p:txBody>
      </p:sp>
      <p:sp>
        <p:nvSpPr>
          <p:cNvPr id="32" name="Forma 32"/>
          <p:cNvSpPr/>
          <p:nvPr/>
        </p:nvSpPr>
        <p:spPr>
          <a:xfrm>
            <a:off x="8766000" y="3711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o 33"/>
          <p:cNvSpPr txBox="1"/>
          <p:nvPr/>
        </p:nvSpPr>
        <p:spPr>
          <a:xfrm>
            <a:off x="8917200" y="3654000"/>
            <a:ext cx="2836800" cy="68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1" i="0" dirty="0">
                <a:solidFill>
                  <a:srgbClr val="1F3864"/>
                </a:solidFill>
                <a:latin typeface="Calibri"/>
              </a:rPr>
              <a:t>7</a:t>
            </a: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 sin origen de pauta: 1 recomendación explícita y 6 sin registro en el CRM.</a:t>
            </a:r>
          </a:p>
        </p:txBody>
      </p:sp>
      <p:sp>
        <p:nvSpPr>
          <p:cNvPr id="34" name="Forma 34"/>
          <p:cNvSpPr/>
          <p:nvPr/>
        </p:nvSpPr>
        <p:spPr>
          <a:xfrm>
            <a:off x="8766000" y="4395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o 35"/>
          <p:cNvSpPr txBox="1"/>
          <p:nvPr/>
        </p:nvSpPr>
        <p:spPr>
          <a:xfrm>
            <a:off x="8917200" y="4338000"/>
            <a:ext cx="2836800" cy="68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1" i="0" dirty="0">
                <a:solidFill>
                  <a:srgbClr val="1F3864"/>
                </a:solidFill>
                <a:latin typeface="Calibri"/>
              </a:rPr>
              <a:t>3</a:t>
            </a: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 inscripciones de francés, todas de alumnos que ya habían tomado clase de inglés: venta cruzada.</a:t>
            </a:r>
          </a:p>
        </p:txBody>
      </p:sp>
      <p:sp>
        <p:nvSpPr>
          <p:cNvPr id="36" name="Forma 36"/>
          <p:cNvSpPr/>
          <p:nvPr/>
        </p:nvSpPr>
        <p:spPr>
          <a:xfrm>
            <a:off x="8766000" y="5079599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o 37"/>
          <p:cNvSpPr txBox="1"/>
          <p:nvPr/>
        </p:nvSpPr>
        <p:spPr>
          <a:xfrm>
            <a:off x="8917200" y="5021999"/>
            <a:ext cx="2836800" cy="68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1" i="0" dirty="0">
                <a:solidFill>
                  <a:srgbClr val="1F3864"/>
                </a:solidFill>
                <a:latin typeface="Calibri"/>
              </a:rPr>
              <a:t>3 contactos</a:t>
            </a: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 inscribieron a dos integrantes de la familia cada uno.</a:t>
            </a:r>
          </a:p>
        </p:txBody>
      </p:sp>
      <p:cxnSp>
        <p:nvCxnSpPr>
          <p:cNvPr id="38" name="Linea 38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39" name="Texto 39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Evidencia cruzada: bitácora de clases muestra + CRM + padrón de alumnos (export 05-oct-2026)</a:t>
            </a:r>
          </a:p>
        </p:txBody>
      </p:sp>
      <p:graphicFrame>
        <p:nvGraphicFramePr>
          <p:cNvPr id="901" name="Gráfico 1"/>
          <p:cNvGraphicFramePr>
            <a:graphicFrameLocks/>
          </p:cNvGraphicFramePr>
          <p:nvPr/>
        </p:nvGraphicFramePr>
        <p:xfrm>
          <a:off x="540000" y="2520000"/>
          <a:ext cx="3816000" cy="3311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1"/>
          </a:graphicData>
        </a:graphic>
      </p:graphicFrame>
      <p:graphicFrame>
        <p:nvGraphicFramePr>
          <p:cNvPr id="902" name="Gráfico 2"/>
          <p:cNvGraphicFramePr>
            <a:graphicFrameLocks/>
          </p:cNvGraphicFramePr>
          <p:nvPr/>
        </p:nvGraphicFramePr>
        <p:xfrm>
          <a:off x="4572000" y="2520000"/>
          <a:ext cx="3816000" cy="3311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Resultados de pauta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Volumen frente a eficiencia: el reparto del gasto fue el gran costo oculto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07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Texto 7"/>
          <p:cNvSpPr txBox="1"/>
          <p:nvPr/>
        </p:nvSpPr>
        <p:spPr>
          <a:xfrm>
            <a:off x="6263999" y="1188000"/>
            <a:ext cx="538919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1F3864"/>
                </a:solidFill>
                <a:latin typeface="Calibri"/>
              </a:rPr>
              <a:t>Los 3 anuncios que importan</a:t>
            </a:r>
          </a:p>
        </p:txBody>
      </p:sp>
      <p:graphicFrame>
        <p:nvGraphicFramePr>
          <p:cNvPr id="8" name="Tabla 8"/>
          <p:cNvGraphicFramePr>
            <a:graphicFrameLocks noGrp="1"/>
          </p:cNvGraphicFramePr>
          <p:nvPr/>
        </p:nvGraphicFramePr>
        <p:xfrm>
          <a:off x="6263999" y="1475999"/>
          <a:ext cx="5389199" cy="2527200"/>
        </p:xfrm>
        <a:graphic>
          <a:graphicData uri="http://schemas.openxmlformats.org/drawingml/2006/table">
            <a:tbl>
              <a:tblPr firstRow="1" bandRow="0"/>
              <a:tblGrid>
                <a:gridCol w="1843673"/>
                <a:gridCol w="1063657"/>
                <a:gridCol w="709105"/>
                <a:gridCol w="780015"/>
                <a:gridCol w="992747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Anuncio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Gasto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Conv.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$/conv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video villas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$4,902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491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$10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video sin libros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$744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$19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video clases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$418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$60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post grupos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$403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$37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video testimoniales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$309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carrete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$180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$45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post clase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$29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$29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video switch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$15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000" b="0">
                          <a:solidFill>
                            <a:srgbClr val="262626"/>
                          </a:solidFill>
                          <a:latin typeface="Calibri"/>
                        </a:rPr>
                        <a:t>$15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Forma 9"/>
          <p:cNvSpPr/>
          <p:nvPr/>
        </p:nvSpPr>
        <p:spPr>
          <a:xfrm>
            <a:off x="6263999" y="4464000"/>
            <a:ext cx="5389199" cy="15120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orma 10"/>
          <p:cNvSpPr/>
          <p:nvPr/>
        </p:nvSpPr>
        <p:spPr>
          <a:xfrm>
            <a:off x="6263999" y="4464000"/>
            <a:ext cx="46800" cy="15120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o 11"/>
          <p:cNvSpPr txBox="1"/>
          <p:nvPr/>
        </p:nvSpPr>
        <p:spPr>
          <a:xfrm>
            <a:off x="6425999" y="4572000"/>
            <a:ext cx="5101199" cy="13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La oportunidad más fácil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$1,354 (19% del gasto) se repartió entre 6 anuncios y produjo 35 conversaciones a $39 cada una. Al costo del anuncio ganador ($9.98) ese mismo dinero habría generado ~136 conversaciones.</a:t>
            </a:r>
          </a:p>
        </p:txBody>
      </p:sp>
      <p:cxnSp>
        <p:nvCxnSpPr>
          <p:cNvPr id="12" name="Linea 12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13" name="Texto 13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Un solo conjunto de anuncios con presupuesto a nivel campaña: el reparto lo decidió el algoritmo, no una asignación manual</a:t>
            </a:r>
          </a:p>
        </p:txBody>
      </p:sp>
      <p:graphicFrame>
        <p:nvGraphicFramePr>
          <p:cNvPr id="901" name="Gráfico 1"/>
          <p:cNvGraphicFramePr>
            <a:graphicFrameLocks/>
          </p:cNvGraphicFramePr>
          <p:nvPr/>
        </p:nvGraphicFramePr>
        <p:xfrm>
          <a:off x="540000" y="1188000"/>
          <a:ext cx="5472000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1"/>
          </a:graphicData>
        </a:graphic>
      </p:graphicFrame>
      <p:graphicFrame>
        <p:nvGraphicFramePr>
          <p:cNvPr id="902" name="Gráfico 2"/>
          <p:cNvGraphicFramePr>
            <a:graphicFrameLocks/>
          </p:cNvGraphicFramePr>
          <p:nvPr/>
        </p:nvGraphicFramePr>
        <p:xfrm>
          <a:off x="540000" y="3636000"/>
          <a:ext cx="5472000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Creativos y contenidos ganadores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Qué mensaje funcionó y por qué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08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Forma 7"/>
          <p:cNvSpPr/>
          <p:nvPr/>
        </p:nvSpPr>
        <p:spPr>
          <a:xfrm>
            <a:off x="540000" y="1188000"/>
            <a:ext cx="5412599" cy="23040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rma 8"/>
          <p:cNvSpPr/>
          <p:nvPr/>
        </p:nvSpPr>
        <p:spPr>
          <a:xfrm>
            <a:off x="540000" y="1188000"/>
            <a:ext cx="46800" cy="2304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o 9"/>
          <p:cNvSpPr txBox="1"/>
          <p:nvPr/>
        </p:nvSpPr>
        <p:spPr>
          <a:xfrm>
            <a:off x="720000" y="1296000"/>
            <a:ext cx="51246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000" b="1" i="0" dirty="0">
                <a:solidFill>
                  <a:srgbClr val="2E7D5B"/>
                </a:solidFill>
                <a:latin typeface="Calibri"/>
              </a:rPr>
              <a:t>CREATIVO GANADOR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720000" y="1548000"/>
            <a:ext cx="51246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i="0" dirty="0">
                <a:solidFill>
                  <a:srgbClr val="1F3864"/>
                </a:solidFill>
                <a:latin typeface="Calibri"/>
              </a:rPr>
              <a:t>video villas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720000" y="1980000"/>
            <a:ext cx="5124600" cy="14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0" i="0" dirty="0">
                <a:solidFill>
                  <a:srgbClr val="4D4D4D"/>
                </a:solidFill>
                <a:latin typeface="Calibri"/>
              </a:rPr>
              <a:t>Mensaje de proximidad geográfica en formato video.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1200" b="0" i="0" dirty="0">
                <a:solidFill>
                  <a:srgbClr val="4D4D4D"/>
                </a:solidFill>
                <a:latin typeface="Calibri"/>
              </a:rPr>
              <a:t>70% del gasto · 87% de las conversaciones · $9.98 por conversación · único anuncio «por encima del promedio» en interacción Y conversiones a la vez.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1200" b="1" i="0" dirty="0">
                <a:solidFill>
                  <a:srgbClr val="1F3864"/>
                </a:solidFill>
                <a:latin typeface="Calibri"/>
              </a:rPr>
              <a:t>19 de las 23 inscripciones atribuibles salieron de aquí.</a:t>
            </a:r>
          </a:p>
        </p:txBody>
      </p:sp>
      <p:sp>
        <p:nvSpPr>
          <p:cNvPr id="12" name="Forma 12"/>
          <p:cNvSpPr/>
          <p:nvPr/>
        </p:nvSpPr>
        <p:spPr>
          <a:xfrm>
            <a:off x="6240599" y="1188000"/>
            <a:ext cx="5412599" cy="2304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orma 13"/>
          <p:cNvSpPr/>
          <p:nvPr/>
        </p:nvSpPr>
        <p:spPr>
          <a:xfrm>
            <a:off x="6240599" y="1188000"/>
            <a:ext cx="46800" cy="23040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o 14"/>
          <p:cNvSpPr txBox="1"/>
          <p:nvPr/>
        </p:nvSpPr>
        <p:spPr>
          <a:xfrm>
            <a:off x="6420599" y="1296000"/>
            <a:ext cx="51246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000" b="1" i="0" dirty="0">
                <a:solidFill>
                  <a:srgbClr val="2E5C9A"/>
                </a:solidFill>
                <a:latin typeface="Calibri"/>
              </a:rPr>
              <a:t>SEGUNDO MEJOR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6420599" y="1548000"/>
            <a:ext cx="51246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i="0" dirty="0">
                <a:solidFill>
                  <a:srgbClr val="1F3864"/>
                </a:solidFill>
                <a:latin typeface="Calibri"/>
              </a:rPr>
              <a:t>video sin libros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6420599" y="1980000"/>
            <a:ext cx="5124600" cy="14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0" i="0" dirty="0">
                <a:solidFill>
                  <a:srgbClr val="4D4D4D"/>
                </a:solidFill>
                <a:latin typeface="Calibri"/>
              </a:rPr>
              <a:t>Mensaje de diferenciación metodológica.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1200" b="0" i="0" dirty="0">
                <a:solidFill>
                  <a:srgbClr val="4D4D4D"/>
                </a:solidFill>
                <a:latin typeface="Calibri"/>
              </a:rPr>
              <a:t>$19.09 por conversación, el segundo mejor de la campaña, con solo 11% del gasto. Clasificación de interacción por encima del promedio.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6552000" y="3636000"/>
            <a:ext cx="510119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1F3864"/>
                </a:solidFill>
                <a:latin typeface="Calibri"/>
              </a:rPr>
              <a:t>Lo que comparten los ganadores</a:t>
            </a:r>
          </a:p>
        </p:txBody>
      </p:sp>
      <p:sp>
        <p:nvSpPr>
          <p:cNvPr id="18" name="Forma 18"/>
          <p:cNvSpPr/>
          <p:nvPr/>
        </p:nvSpPr>
        <p:spPr>
          <a:xfrm>
            <a:off x="6552000" y="4017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o 19"/>
          <p:cNvSpPr txBox="1"/>
          <p:nvPr/>
        </p:nvSpPr>
        <p:spPr>
          <a:xfrm>
            <a:off x="6703200" y="3960000"/>
            <a:ext cx="4949999" cy="52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Formato video/reel: el 97.2% de las conversaciones vino de video.</a:t>
            </a:r>
          </a:p>
        </p:txBody>
      </p:sp>
      <p:sp>
        <p:nvSpPr>
          <p:cNvPr id="20" name="Forma 20"/>
          <p:cNvSpPr/>
          <p:nvPr/>
        </p:nvSpPr>
        <p:spPr>
          <a:xfrm>
            <a:off x="6552000" y="4539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o 21"/>
          <p:cNvSpPr txBox="1"/>
          <p:nvPr/>
        </p:nvSpPr>
        <p:spPr>
          <a:xfrm>
            <a:off x="6703200" y="4482000"/>
            <a:ext cx="4949999" cy="52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Mensaje ESPECÍFICO —un lugar o un método— no una oferta genérica.</a:t>
            </a:r>
          </a:p>
        </p:txBody>
      </p:sp>
      <p:sp>
        <p:nvSpPr>
          <p:cNvPr id="22" name="Forma 22"/>
          <p:cNvSpPr/>
          <p:nvPr/>
        </p:nvSpPr>
        <p:spPr>
          <a:xfrm>
            <a:off x="6552000" y="5061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o 23"/>
          <p:cNvSpPr txBox="1"/>
          <p:nvPr/>
        </p:nvSpPr>
        <p:spPr>
          <a:xfrm>
            <a:off x="6703200" y="5004000"/>
            <a:ext cx="4949999" cy="52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Clasificación de interacción por encima del promedio en Meta.</a:t>
            </a:r>
          </a:p>
        </p:txBody>
      </p:sp>
      <p:sp>
        <p:nvSpPr>
          <p:cNvPr id="24" name="Forma 24"/>
          <p:cNvSpPr/>
          <p:nvPr/>
        </p:nvSpPr>
        <p:spPr>
          <a:xfrm>
            <a:off x="6552000" y="5583599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o 25"/>
          <p:cNvSpPr txBox="1"/>
          <p:nvPr/>
        </p:nvSpPr>
        <p:spPr>
          <a:xfrm>
            <a:off x="6703200" y="5525999"/>
            <a:ext cx="4949999" cy="52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333333"/>
                </a:solidFill>
                <a:latin typeface="Calibri"/>
              </a:rPr>
              <a:t>Los creativos de oferta genérica con volumen comparable costaron $36.61 («post grupos») y $44.99 («carrete») por conversación.</a:t>
            </a:r>
          </a:p>
        </p:txBody>
      </p:sp>
      <p:cxnSp>
        <p:nvCxnSpPr>
          <p:cNvPr id="26" name="Linea 26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27" name="Texto 27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Las piezas creativas no están en el repositorio: esta lectura se basa en el nombre del anuncio y en sus métricas de desempeño</a:t>
            </a:r>
          </a:p>
        </p:txBody>
      </p:sp>
      <p:graphicFrame>
        <p:nvGraphicFramePr>
          <p:cNvPr id="901" name="Gráfico 1"/>
          <p:cNvGraphicFramePr>
            <a:graphicFrameLocks/>
          </p:cNvGraphicFramePr>
          <p:nvPr/>
        </p:nvGraphicFramePr>
        <p:xfrm>
          <a:off x="540000" y="3636000"/>
          <a:ext cx="5760000" cy="23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Hallazgos y áreas de oportunidad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Solo los puntos con mayor impacto comercial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09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Texto 7"/>
          <p:cNvSpPr txBox="1"/>
          <p:nvPr/>
        </p:nvSpPr>
        <p:spPr>
          <a:xfrm>
            <a:off x="540000" y="1170000"/>
            <a:ext cx="541259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1F3864"/>
                </a:solidFill>
                <a:latin typeface="Calibri"/>
              </a:rPr>
              <a:t>HALLAZGOS</a:t>
            </a:r>
          </a:p>
        </p:txBody>
      </p:sp>
      <p:sp>
        <p:nvSpPr>
          <p:cNvPr id="8" name="Forma 8"/>
          <p:cNvSpPr/>
          <p:nvPr/>
        </p:nvSpPr>
        <p:spPr>
          <a:xfrm>
            <a:off x="540000" y="1475999"/>
            <a:ext cx="5412599" cy="108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rma 9"/>
          <p:cNvSpPr/>
          <p:nvPr/>
        </p:nvSpPr>
        <p:spPr>
          <a:xfrm>
            <a:off x="540000" y="1475999"/>
            <a:ext cx="46800" cy="10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o 10"/>
          <p:cNvSpPr txBox="1"/>
          <p:nvPr/>
        </p:nvSpPr>
        <p:spPr>
          <a:xfrm>
            <a:off x="702000" y="1576799"/>
            <a:ext cx="32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C3CBDC"/>
                </a:solidFill>
                <a:latin typeface="Calibri"/>
              </a:rPr>
              <a:t>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1026000" y="1583999"/>
            <a:ext cx="48006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El cuello de botella es el agendamiento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1026000" y="1907999"/>
            <a:ext cx="4800600" cy="61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390 de 477 leads (81.8%) nunca llegaron a clase muestra. Asistencia y cierre están sanos.</a:t>
            </a:r>
          </a:p>
        </p:txBody>
      </p:sp>
      <p:sp>
        <p:nvSpPr>
          <p:cNvPr id="13" name="Forma 13"/>
          <p:cNvSpPr/>
          <p:nvPr/>
        </p:nvSpPr>
        <p:spPr>
          <a:xfrm>
            <a:off x="540000" y="2627999"/>
            <a:ext cx="5412599" cy="108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Forma 14"/>
          <p:cNvSpPr/>
          <p:nvPr/>
        </p:nvSpPr>
        <p:spPr>
          <a:xfrm>
            <a:off x="540000" y="2627999"/>
            <a:ext cx="46800" cy="10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o 15"/>
          <p:cNvSpPr txBox="1"/>
          <p:nvPr/>
        </p:nvSpPr>
        <p:spPr>
          <a:xfrm>
            <a:off x="702000" y="2728799"/>
            <a:ext cx="32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C3CBDC"/>
                </a:solidFill>
                <a:latin typeface="Calibri"/>
              </a:rPr>
              <a:t>2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1026000" y="2735999"/>
            <a:ext cx="48006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Un creativo sostuvo la campaña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1026000" y="3059999"/>
            <a:ext cx="4800600" cy="61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«video villas»: 70% del gasto, 87% de las conversaciones, 19 de las 23 inscripciones atribuibles.</a:t>
            </a:r>
          </a:p>
        </p:txBody>
      </p:sp>
      <p:sp>
        <p:nvSpPr>
          <p:cNvPr id="18" name="Forma 18"/>
          <p:cNvSpPr/>
          <p:nvPr/>
        </p:nvSpPr>
        <p:spPr>
          <a:xfrm>
            <a:off x="540000" y="3779999"/>
            <a:ext cx="5412599" cy="108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Forma 19"/>
          <p:cNvSpPr/>
          <p:nvPr/>
        </p:nvSpPr>
        <p:spPr>
          <a:xfrm>
            <a:off x="540000" y="3779999"/>
            <a:ext cx="46800" cy="10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o 20"/>
          <p:cNvSpPr txBox="1"/>
          <p:nvPr/>
        </p:nvSpPr>
        <p:spPr>
          <a:xfrm>
            <a:off x="702000" y="3880799"/>
            <a:ext cx="32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C3CBDC"/>
                </a:solidFill>
                <a:latin typeface="Calibri"/>
              </a:rPr>
              <a:t>3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1026000" y="3887999"/>
            <a:ext cx="48006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La clase muestra convierte muy bien</a:t>
            </a:r>
          </a:p>
        </p:txBody>
      </p:sp>
      <p:sp>
        <p:nvSpPr>
          <p:cNvPr id="22" name="Texto 22"/>
          <p:cNvSpPr txBox="1"/>
          <p:nvPr/>
        </p:nvSpPr>
        <p:spPr>
          <a:xfrm>
            <a:off x="1026000" y="4211999"/>
            <a:ext cx="4800600" cy="61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73.6% de asistencia y 46.2% de cierre. Cada clase realizada costó $104.48 de pauta.</a:t>
            </a:r>
          </a:p>
        </p:txBody>
      </p:sp>
      <p:sp>
        <p:nvSpPr>
          <p:cNvPr id="23" name="Forma 23"/>
          <p:cNvSpPr/>
          <p:nvPr/>
        </p:nvSpPr>
        <p:spPr>
          <a:xfrm>
            <a:off x="540000" y="4931999"/>
            <a:ext cx="5412599" cy="108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Forma 24"/>
          <p:cNvSpPr/>
          <p:nvPr/>
        </p:nvSpPr>
        <p:spPr>
          <a:xfrm>
            <a:off x="540000" y="4931999"/>
            <a:ext cx="46800" cy="10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o 25"/>
          <p:cNvSpPr txBox="1"/>
          <p:nvPr/>
        </p:nvSpPr>
        <p:spPr>
          <a:xfrm>
            <a:off x="702000" y="5032799"/>
            <a:ext cx="32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700" b="1" i="0" dirty="0">
                <a:solidFill>
                  <a:srgbClr val="C3CBDC"/>
                </a:solidFill>
                <a:latin typeface="Calibri"/>
              </a:rPr>
              <a:t>4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1026000" y="5039999"/>
            <a:ext cx="48006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Hay inventario pagado sin trabajar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1026000" y="5363999"/>
            <a:ext cx="4800600" cy="61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463 oportunidades abiertas; 284 en descubrimiento con 15+ días sin movimiento.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6240599" y="1170000"/>
            <a:ext cx="5412599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B23A33"/>
                </a:solidFill>
                <a:latin typeface="Calibri"/>
              </a:rPr>
              <a:t>ÁREAS DE OPORTUNIDAD</a:t>
            </a:r>
          </a:p>
        </p:txBody>
      </p:sp>
      <p:sp>
        <p:nvSpPr>
          <p:cNvPr id="29" name="Forma 29"/>
          <p:cNvSpPr/>
          <p:nvPr/>
        </p:nvSpPr>
        <p:spPr>
          <a:xfrm>
            <a:off x="6240599" y="1475999"/>
            <a:ext cx="5412599" cy="864000"/>
          </a:xfrm>
          <a:prstGeom prst="roundRect">
            <a:avLst>
              <a:gd name="adj" fmla="val 6000"/>
            </a:avLst>
          </a:prstGeom>
          <a:solidFill>
            <a:srgbClr val="FDF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Forma 30"/>
          <p:cNvSpPr/>
          <p:nvPr/>
        </p:nvSpPr>
        <p:spPr>
          <a:xfrm>
            <a:off x="6240599" y="1475999"/>
            <a:ext cx="46800" cy="864000"/>
          </a:xfrm>
          <a:prstGeom prst="rect">
            <a:avLst/>
          </a:prstGeom>
          <a:solidFill>
            <a:srgbClr val="B23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o 31"/>
          <p:cNvSpPr txBox="1"/>
          <p:nvPr/>
        </p:nvSpPr>
        <p:spPr>
          <a:xfrm>
            <a:off x="6402599" y="1565999"/>
            <a:ext cx="51246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Agendamiento bajo</a:t>
            </a:r>
          </a:p>
        </p:txBody>
      </p:sp>
      <p:sp>
        <p:nvSpPr>
          <p:cNvPr id="32" name="Texto 32"/>
          <p:cNvSpPr txBox="1"/>
          <p:nvPr/>
        </p:nvSpPr>
        <p:spPr>
          <a:xfrm>
            <a:off x="6402599" y="1835999"/>
            <a:ext cx="51246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Lead → CM 19.1%. Es la pérdida más grande y la de mayor retorno si se corrige.</a:t>
            </a:r>
          </a:p>
        </p:txBody>
      </p:sp>
      <p:sp>
        <p:nvSpPr>
          <p:cNvPr id="33" name="Forma 33"/>
          <p:cNvSpPr/>
          <p:nvPr/>
        </p:nvSpPr>
        <p:spPr>
          <a:xfrm>
            <a:off x="6240599" y="2411999"/>
            <a:ext cx="5412599" cy="864000"/>
          </a:xfrm>
          <a:prstGeom prst="roundRect">
            <a:avLst>
              <a:gd name="adj" fmla="val 6000"/>
            </a:avLst>
          </a:prstGeom>
          <a:solidFill>
            <a:srgbClr val="FDF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Forma 34"/>
          <p:cNvSpPr/>
          <p:nvPr/>
        </p:nvSpPr>
        <p:spPr>
          <a:xfrm>
            <a:off x="6240599" y="2411999"/>
            <a:ext cx="46800" cy="864000"/>
          </a:xfrm>
          <a:prstGeom prst="rect">
            <a:avLst/>
          </a:prstGeom>
          <a:solidFill>
            <a:srgbClr val="B23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o 35"/>
          <p:cNvSpPr txBox="1"/>
          <p:nvPr/>
        </p:nvSpPr>
        <p:spPr>
          <a:xfrm>
            <a:off x="6402599" y="2501999"/>
            <a:ext cx="51246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Seguimiento sin registro</a:t>
            </a:r>
          </a:p>
        </p:txBody>
      </p:sp>
      <p:sp>
        <p:nvSpPr>
          <p:cNvPr id="36" name="Texto 36"/>
          <p:cNvSpPr txBox="1"/>
          <p:nvPr/>
        </p:nvSpPr>
        <p:spPr>
          <a:xfrm>
            <a:off x="6402599" y="2771999"/>
            <a:ext cx="51246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92.0% de los registros del CRM sin resultado de seguimiento; columna de comentarios vacía en el 100% de la hoja.</a:t>
            </a:r>
          </a:p>
        </p:txBody>
      </p:sp>
      <p:sp>
        <p:nvSpPr>
          <p:cNvPr id="37" name="Forma 37"/>
          <p:cNvSpPr/>
          <p:nvPr/>
        </p:nvSpPr>
        <p:spPr>
          <a:xfrm>
            <a:off x="6240599" y="3347999"/>
            <a:ext cx="5412599" cy="864000"/>
          </a:xfrm>
          <a:prstGeom prst="roundRect">
            <a:avLst>
              <a:gd name="adj" fmla="val 6000"/>
            </a:avLst>
          </a:prstGeom>
          <a:solidFill>
            <a:srgbClr val="FDF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Forma 38"/>
          <p:cNvSpPr/>
          <p:nvPr/>
        </p:nvSpPr>
        <p:spPr>
          <a:xfrm>
            <a:off x="6240599" y="3347999"/>
            <a:ext cx="46800" cy="8640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o 39"/>
          <p:cNvSpPr txBox="1"/>
          <p:nvPr/>
        </p:nvSpPr>
        <p:spPr>
          <a:xfrm>
            <a:off x="6402599" y="3437999"/>
            <a:ext cx="51246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Gasto en anuncios ineficientes</a:t>
            </a:r>
          </a:p>
        </p:txBody>
      </p:sp>
      <p:sp>
        <p:nvSpPr>
          <p:cNvPr id="40" name="Texto 40"/>
          <p:cNvSpPr txBox="1"/>
          <p:nvPr/>
        </p:nvSpPr>
        <p:spPr>
          <a:xfrm>
            <a:off x="6402599" y="3707999"/>
            <a:ext cx="51246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19% del gasto en 6 anuncios 3.9 veces más caros que el ganador.</a:t>
            </a:r>
          </a:p>
        </p:txBody>
      </p:sp>
      <p:sp>
        <p:nvSpPr>
          <p:cNvPr id="41" name="Forma 41"/>
          <p:cNvSpPr/>
          <p:nvPr/>
        </p:nvSpPr>
        <p:spPr>
          <a:xfrm>
            <a:off x="6240599" y="4283999"/>
            <a:ext cx="5412599" cy="864000"/>
          </a:xfrm>
          <a:prstGeom prst="roundRect">
            <a:avLst>
              <a:gd name="adj" fmla="val 6000"/>
            </a:avLst>
          </a:prstGeom>
          <a:solidFill>
            <a:srgbClr val="FDF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Forma 42"/>
          <p:cNvSpPr/>
          <p:nvPr/>
        </p:nvSpPr>
        <p:spPr>
          <a:xfrm>
            <a:off x="6240599" y="4283999"/>
            <a:ext cx="46800" cy="8640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o 43"/>
          <p:cNvSpPr txBox="1"/>
          <p:nvPr/>
        </p:nvSpPr>
        <p:spPr>
          <a:xfrm>
            <a:off x="6402599" y="4373999"/>
            <a:ext cx="51246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No show del 22.0%</a:t>
            </a:r>
          </a:p>
        </p:txBody>
      </p:sp>
      <p:sp>
        <p:nvSpPr>
          <p:cNvPr id="44" name="Texto 44"/>
          <p:cNvSpPr txBox="1"/>
          <p:nvPr/>
        </p:nvSpPr>
        <p:spPr>
          <a:xfrm>
            <a:off x="6402599" y="4643999"/>
            <a:ext cx="51246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20 clases perdidas; no hay recordatorios ni confirmaciones registradas.</a:t>
            </a:r>
          </a:p>
        </p:txBody>
      </p:sp>
      <p:sp>
        <p:nvSpPr>
          <p:cNvPr id="45" name="Forma 45"/>
          <p:cNvSpPr/>
          <p:nvPr/>
        </p:nvSpPr>
        <p:spPr>
          <a:xfrm>
            <a:off x="6240599" y="5219999"/>
            <a:ext cx="5412599" cy="864000"/>
          </a:xfrm>
          <a:prstGeom prst="roundRect">
            <a:avLst>
              <a:gd name="adj" fmla="val 6000"/>
            </a:avLst>
          </a:prstGeom>
          <a:solidFill>
            <a:srgbClr val="FDF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Forma 46"/>
          <p:cNvSpPr/>
          <p:nvPr/>
        </p:nvSpPr>
        <p:spPr>
          <a:xfrm>
            <a:off x="6240599" y="5219999"/>
            <a:ext cx="46800" cy="8640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o 47"/>
          <p:cNvSpPr txBox="1"/>
          <p:nvPr/>
        </p:nvSpPr>
        <p:spPr>
          <a:xfrm>
            <a:off x="6402599" y="5309999"/>
            <a:ext cx="51246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1" i="0" dirty="0">
                <a:solidFill>
                  <a:srgbClr val="1F3864"/>
                </a:solidFill>
                <a:latin typeface="Calibri"/>
              </a:rPr>
              <a:t>Trazabilidad incompleta</a:t>
            </a:r>
          </a:p>
        </p:txBody>
      </p:sp>
      <p:sp>
        <p:nvSpPr>
          <p:cNvPr id="48" name="Texto 48"/>
          <p:cNvSpPr txBox="1"/>
          <p:nvPr/>
        </p:nvSpPr>
        <p:spPr>
          <a:xfrm>
            <a:off x="6402599" y="5579999"/>
            <a:ext cx="51246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00" b="0" i="0" dirty="0">
                <a:solidFill>
                  <a:srgbClr val="4D4D4D"/>
                </a:solidFill>
                <a:latin typeface="Calibri"/>
              </a:rPr>
              <a:t>66 conversaciones de Meta sin registro en el CRM (cobertura 88.3%).</a:t>
            </a:r>
          </a:p>
        </p:txBody>
      </p:sp>
      <p:cxnSp>
        <p:nvCxnSpPr>
          <p:cNvPr id="49" name="Linea 49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50" name="Texto 50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Cada hallazgo y cada área de oportunidad está sustentada en los datos de las cuatro fuentes · detalle en el Reporte de Campaña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o 3"/>
          <p:cNvSpPr txBox="1"/>
          <p:nvPr/>
        </p:nvSpPr>
        <p:spPr>
          <a:xfrm>
            <a:off x="540000" y="270000"/>
            <a:ext cx="10033200" cy="45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1F3864"/>
                </a:solidFill>
                <a:latin typeface="Calibri"/>
              </a:rPr>
              <a:t>Aprendizajes y siguientes acciones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540000" y="737999"/>
            <a:ext cx="1003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50" b="0" i="0" dirty="0">
                <a:solidFill>
                  <a:srgbClr val="636363"/>
                </a:solidFill>
                <a:latin typeface="Calibri"/>
              </a:rPr>
              <a:t>Qué repetir, qué modificar y en qué orden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0861200" y="288000"/>
            <a:ext cx="7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600" b="1" i="0" dirty="0">
                <a:solidFill>
                  <a:srgbClr val="D2D8E4"/>
                </a:solidFill>
                <a:latin typeface="Calibri"/>
              </a:rPr>
              <a:t>10</a:t>
            </a:r>
          </a:p>
        </p:txBody>
      </p:sp>
      <p:cxnSp>
        <p:nvCxnSpPr>
          <p:cNvPr id="6" name="Linea 6"/>
          <p:cNvCxnSpPr/>
          <p:nvPr/>
        </p:nvCxnSpPr>
        <p:spPr>
          <a:xfrm>
            <a:off x="540000" y="1015200"/>
            <a:ext cx="11113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7" name="Forma 7"/>
          <p:cNvSpPr/>
          <p:nvPr/>
        </p:nvSpPr>
        <p:spPr>
          <a:xfrm>
            <a:off x="540000" y="1188000"/>
            <a:ext cx="5412599" cy="18720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rma 8"/>
          <p:cNvSpPr/>
          <p:nvPr/>
        </p:nvSpPr>
        <p:spPr>
          <a:xfrm>
            <a:off x="540000" y="1188000"/>
            <a:ext cx="46800" cy="1872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o 9"/>
          <p:cNvSpPr txBox="1"/>
          <p:nvPr/>
        </p:nvSpPr>
        <p:spPr>
          <a:xfrm>
            <a:off x="720000" y="1296000"/>
            <a:ext cx="51246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2E7D5B"/>
                </a:solidFill>
                <a:latin typeface="Calibri"/>
              </a:rPr>
              <a:t>QUÉ REPETIR</a:t>
            </a:r>
          </a:p>
        </p:txBody>
      </p:sp>
      <p:sp>
        <p:nvSpPr>
          <p:cNvPr id="10" name="Forma 10"/>
          <p:cNvSpPr/>
          <p:nvPr/>
        </p:nvSpPr>
        <p:spPr>
          <a:xfrm>
            <a:off x="720000" y="1677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o 11"/>
          <p:cNvSpPr txBox="1"/>
          <p:nvPr/>
        </p:nvSpPr>
        <p:spPr>
          <a:xfrm>
            <a:off x="871200" y="1620000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El creativo de proximidad geográfica en formato video.</a:t>
            </a:r>
          </a:p>
        </p:txBody>
      </p:sp>
      <p:sp>
        <p:nvSpPr>
          <p:cNvPr id="12" name="Forma 12"/>
          <p:cNvSpPr/>
          <p:nvPr/>
        </p:nvSpPr>
        <p:spPr>
          <a:xfrm>
            <a:off x="720000" y="2019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o 13"/>
          <p:cNvSpPr txBox="1"/>
          <p:nvPr/>
        </p:nvSpPr>
        <p:spPr>
          <a:xfrm>
            <a:off x="871200" y="1962000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El objetivo de mensajes con WhatsApp como canal operativo.</a:t>
            </a:r>
          </a:p>
        </p:txBody>
      </p:sp>
      <p:sp>
        <p:nvSpPr>
          <p:cNvPr id="14" name="Forma 14"/>
          <p:cNvSpPr/>
          <p:nvPr/>
        </p:nvSpPr>
        <p:spPr>
          <a:xfrm>
            <a:off x="720000" y="2361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o 15"/>
          <p:cNvSpPr txBox="1"/>
          <p:nvPr/>
        </p:nvSpPr>
        <p:spPr>
          <a:xfrm>
            <a:off x="871200" y="2304000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El formato de la clase muestra tal como está hoy.</a:t>
            </a:r>
          </a:p>
        </p:txBody>
      </p:sp>
      <p:sp>
        <p:nvSpPr>
          <p:cNvPr id="16" name="Forma 16"/>
          <p:cNvSpPr/>
          <p:nvPr/>
        </p:nvSpPr>
        <p:spPr>
          <a:xfrm>
            <a:off x="720000" y="2703599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o 17"/>
          <p:cNvSpPr txBox="1"/>
          <p:nvPr/>
        </p:nvSpPr>
        <p:spPr>
          <a:xfrm>
            <a:off x="871200" y="2645999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La ejecución total del presupuesto asignado.</a:t>
            </a:r>
          </a:p>
        </p:txBody>
      </p:sp>
      <p:sp>
        <p:nvSpPr>
          <p:cNvPr id="18" name="Forma 18"/>
          <p:cNvSpPr/>
          <p:nvPr/>
        </p:nvSpPr>
        <p:spPr>
          <a:xfrm>
            <a:off x="6240599" y="1188000"/>
            <a:ext cx="5412599" cy="1872000"/>
          </a:xfrm>
          <a:prstGeom prst="roundRect">
            <a:avLst>
              <a:gd name="adj" fmla="val 6000"/>
            </a:avLst>
          </a:prstGeom>
          <a:solidFill>
            <a:srgbClr val="FDF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Forma 19"/>
          <p:cNvSpPr/>
          <p:nvPr/>
        </p:nvSpPr>
        <p:spPr>
          <a:xfrm>
            <a:off x="6240599" y="1188000"/>
            <a:ext cx="46800" cy="1872000"/>
          </a:xfrm>
          <a:prstGeom prst="rect">
            <a:avLst/>
          </a:prstGeom>
          <a:solidFill>
            <a:srgbClr val="B23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o 20"/>
          <p:cNvSpPr txBox="1"/>
          <p:nvPr/>
        </p:nvSpPr>
        <p:spPr>
          <a:xfrm>
            <a:off x="6420599" y="1296000"/>
            <a:ext cx="51246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B23A33"/>
                </a:solidFill>
                <a:latin typeface="Calibri"/>
              </a:rPr>
              <a:t>QUÉ MODIFICAR</a:t>
            </a:r>
          </a:p>
        </p:txBody>
      </p:sp>
      <p:sp>
        <p:nvSpPr>
          <p:cNvPr id="21" name="Forma 21"/>
          <p:cNvSpPr/>
          <p:nvPr/>
        </p:nvSpPr>
        <p:spPr>
          <a:xfrm>
            <a:off x="6420599" y="1677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o 22"/>
          <p:cNvSpPr txBox="1"/>
          <p:nvPr/>
        </p:nvSpPr>
        <p:spPr>
          <a:xfrm>
            <a:off x="6571799" y="1620000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Proponer horarios de clase muestra en el primer mensaje, no enviar información.</a:t>
            </a:r>
          </a:p>
        </p:txBody>
      </p:sp>
      <p:sp>
        <p:nvSpPr>
          <p:cNvPr id="23" name="Forma 23"/>
          <p:cNvSpPr/>
          <p:nvPr/>
        </p:nvSpPr>
        <p:spPr>
          <a:xfrm>
            <a:off x="6420599" y="2019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o 24"/>
          <p:cNvSpPr txBox="1"/>
          <p:nvPr/>
        </p:nvSpPr>
        <p:spPr>
          <a:xfrm>
            <a:off x="6571799" y="1962000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Cadencia de seguimiento con registro obligatorio en el CRM.</a:t>
            </a:r>
          </a:p>
        </p:txBody>
      </p:sp>
      <p:sp>
        <p:nvSpPr>
          <p:cNvPr id="25" name="Forma 25"/>
          <p:cNvSpPr/>
          <p:nvPr/>
        </p:nvSpPr>
        <p:spPr>
          <a:xfrm>
            <a:off x="6420599" y="2361600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o 26"/>
          <p:cNvSpPr txBox="1"/>
          <p:nvPr/>
        </p:nvSpPr>
        <p:spPr>
          <a:xfrm>
            <a:off x="6571799" y="2304000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Dejar de repartir presupuesto entre anuncios ya probados como ineficientes.</a:t>
            </a:r>
          </a:p>
        </p:txBody>
      </p:sp>
      <p:sp>
        <p:nvSpPr>
          <p:cNvPr id="27" name="Forma 27"/>
          <p:cNvSpPr/>
          <p:nvPr/>
        </p:nvSpPr>
        <p:spPr>
          <a:xfrm>
            <a:off x="6420599" y="2703599"/>
            <a:ext cx="57600" cy="576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o 28"/>
          <p:cNvSpPr txBox="1"/>
          <p:nvPr/>
        </p:nvSpPr>
        <p:spPr>
          <a:xfrm>
            <a:off x="6571799" y="2645999"/>
            <a:ext cx="4973400" cy="34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150" b="0" i="0" dirty="0">
                <a:solidFill>
                  <a:srgbClr val="333333"/>
                </a:solidFill>
                <a:latin typeface="Calibri"/>
              </a:rPr>
              <a:t>Confirmar asistencia 24 h y 2 h antes de cada clase.</a:t>
            </a:r>
          </a:p>
        </p:txBody>
      </p:sp>
      <p:sp>
        <p:nvSpPr>
          <p:cNvPr id="29" name="Texto 29"/>
          <p:cNvSpPr txBox="1"/>
          <p:nvPr/>
        </p:nvSpPr>
        <p:spPr>
          <a:xfrm>
            <a:off x="540000" y="3204000"/>
            <a:ext cx="111132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200" b="1" i="0" dirty="0">
                <a:solidFill>
                  <a:srgbClr val="1F3864"/>
                </a:solidFill>
                <a:latin typeface="Calibri"/>
              </a:rPr>
              <a:t>PRIORIDADES PARA LA SIGUIENTE CAMPAÑA</a:t>
            </a:r>
          </a:p>
        </p:txBody>
      </p:sp>
      <p:graphicFrame>
        <p:nvGraphicFramePr>
          <p:cNvPr id="30" name="Tabla 30"/>
          <p:cNvGraphicFramePr>
            <a:graphicFrameLocks noGrp="1"/>
          </p:cNvGraphicFramePr>
          <p:nvPr/>
        </p:nvGraphicFramePr>
        <p:xfrm>
          <a:off x="540000" y="3491999"/>
          <a:ext cx="11113200" cy="2217600"/>
        </p:xfrm>
        <a:graphic>
          <a:graphicData uri="http://schemas.openxmlformats.org/drawingml/2006/table">
            <a:tbl>
              <a:tblPr firstRow="1" bandRow="0"/>
              <a:tblGrid>
                <a:gridCol w="744698"/>
                <a:gridCol w="4582762"/>
                <a:gridCol w="3723494"/>
                <a:gridCol w="2062243"/>
              </a:tblGrid>
              <a:tr h="316800"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Problema que resuelve (dato)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>
                          <a:solidFill>
                            <a:srgbClr val="FFFFFF"/>
                          </a:solidFill>
                          <a:latin typeface="Calibri"/>
                        </a:rPr>
                        <a:t>KPI afectado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algn="c"/>
                      <a:r>
                        <a:rPr lang="es-MX" sz="1050" b="1">
                          <a:solidFill>
                            <a:srgbClr val="B23A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Responder y agendar en menos de 30 minutos, con responsable por turno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Lead → CM de 19.1%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Lead → CM agendada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algn="c"/>
                      <a:r>
                        <a:rPr lang="es-MX" sz="1050" b="1">
                          <a:solidFill>
                            <a:srgbClr val="B23A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Primer mensaje con dos horarios concretos en lugar de información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408 registros detenidos en «información enviada» o «contactado»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Lead → CM agendada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algn="c"/>
                      <a:r>
                        <a:rPr lang="es-MX" sz="1050" b="1">
                          <a:solidFill>
                            <a:srgbClr val="B23A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Recuperar los 284 prospectos sin movimiento antes de abrir presupuesto nuevo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463 oportunidades abiertas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Inscripciones sin costo incremental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algn="c"/>
                      <a:r>
                        <a:rPr lang="es-MX" sz="1050" b="1">
                          <a:solidFill>
                            <a:srgbClr val="B23A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Reasignar el gasto de los 6 anuncios ineficientes al creativo ganador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19% del gasto produjo 6% de las conversaciones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CPL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algn="c"/>
                      <a:r>
                        <a:rPr lang="es-MX" sz="1050" b="1">
                          <a:solidFill>
                            <a:srgbClr val="C98A1B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Confirmación de asistencia 24 h y 2 h antes de la clase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No show 22.0%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Tasa de asistencia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algn="c"/>
                      <a:r>
                        <a:rPr lang="es-MX" sz="1050" b="1">
                          <a:solidFill>
                            <a:srgbClr val="C98A1B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Dos creativos nuevos de mensaje familiar (hermanos, madre e hijo)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Kids cierra 52.9% frente a 40.0% de College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50" b="0">
                          <a:solidFill>
                            <a:srgbClr val="262626"/>
                          </a:solidFill>
                          <a:latin typeface="Calibri"/>
                        </a:rPr>
                        <a:t>Inscripciones por CM</a:t>
                      </a:r>
                    </a:p>
                  </a:txBody>
                  <a:tcPr marL="43200" marR="43200" marT="14400" marB="1440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FFFFFF"/>
                      </a:solidFill>
                    </a:lnT>
                    <a:lnB w="317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Forma 31"/>
          <p:cNvSpPr/>
          <p:nvPr/>
        </p:nvSpPr>
        <p:spPr>
          <a:xfrm>
            <a:off x="540000" y="5760000"/>
            <a:ext cx="11113200" cy="558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o 32"/>
          <p:cNvSpPr txBox="1"/>
          <p:nvPr/>
        </p:nvSpPr>
        <p:spPr>
          <a:xfrm>
            <a:off x="720000" y="5760000"/>
            <a:ext cx="10753200" cy="55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300" b="1" i="0" dirty="0">
                <a:solidFill>
                  <a:srgbClr val="FFFFFF"/>
                </a:solidFill>
                <a:latin typeface="Calibri"/>
              </a:rPr>
              <a:t>Si solo se puede hacer una cosa: atacar el agendamiento. </a:t>
            </a:r>
            <a:r>
              <a:rPr lang="es-MX" sz="1250" b="0" i="0" dirty="0">
                <a:solidFill>
                  <a:srgbClr val="CFDAEC"/>
                </a:solidFill>
                <a:latin typeface="Calibri"/>
              </a:rPr>
              <a:t>Con el mismo presupuesto de $7,000, llevar Lead → CM de 19.1% a 25% produciría ~10 inscripciones más (+35.0%), porque asistencia y cierre ya funcionan.</a:t>
            </a:r>
          </a:p>
        </p:txBody>
      </p:sp>
      <p:cxnSp>
        <p:nvCxnSpPr>
          <p:cNvPr id="33" name="Linea 33"/>
          <p:cNvCxnSpPr/>
          <p:nvPr/>
        </p:nvCxnSpPr>
        <p:spPr>
          <a:xfrm>
            <a:off x="540000" y="6426000"/>
            <a:ext cx="11113200" cy="0"/>
          </a:xfrm>
          <a:prstGeom prst="line">
            <a:avLst/>
          </a:prstGeom>
          <a:ln w="9525">
            <a:solidFill>
              <a:srgbClr val="E3E3E3"/>
            </a:solidFill>
          </a:ln>
        </p:spPr>
      </p:cxnSp>
      <p:sp>
        <p:nvSpPr>
          <p:cNvPr id="34" name="Texto 34"/>
          <p:cNvSpPr txBox="1"/>
          <p:nvPr/>
        </p:nvSpPr>
        <p:spPr>
          <a:xfrm>
            <a:off x="540000" y="6462000"/>
            <a:ext cx="11113200" cy="251999"/>
          </a:xfrm>
          <a:prstGeom prst="rect">
            <a:avLst/>
          </a:prstGeom>
          <a:noFill/>
          <a:ln>
            <a:noFill/>
          </a:ln>
        </p:spPr>
        <p:txBody>
          <a:bodyPr wrap="square" lIns="54000" tIns="28800" rIns="54000" bIns="2880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950" b="0" i="0" dirty="0">
                <a:solidFill>
                  <a:srgbClr val="8C8C8C"/>
                </a:solidFill>
                <a:latin typeface="Calibri"/>
              </a:rPr>
              <a:t>Kugelman Academy · Campaña Septiembre 2026 · 21 ago – 4 oct · Detalle completo en el Reporte de Campaña y la Base Maestra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gelman">
  <a:themeElements>
    <a:clrScheme name="Kugelman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F3864"/>
      </a:accent1>
      <a:accent2>
        <a:srgbClr val="2E8BC0"/>
      </a:accent2>
      <a:accent3>
        <a:srgbClr val="E0A030"/>
      </a:accent3>
      <a:accent4>
        <a:srgbClr val="2E7D5B"/>
      </a:accent4>
      <a:accent5>
        <a:srgbClr val="B23A33"/>
      </a:accent5>
      <a:accent6>
        <a:srgbClr val="7A5EA8"/>
      </a:accent6>
      <a:hlink>
        <a:srgbClr val="0563C1"/>
      </a:hlink>
      <a:folHlink>
        <a:srgbClr val="954F72"/>
      </a:folHlink>
    </a:clrScheme>
    <a:fontScheme name="Kugelma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Kugelma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Company>Kugelman Academy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Ejecutiva — Campaña Septiembre 2026</dc:title>
  <dc:subject>Kugelman Academy · 21 ago – 4 oct 2026</dc:subject>
  <dc:creator>Kugelman Academy</dc:creator>
  <cp:lastModifiedBy>Kugelman Academy</cp:lastModifiedBy>
  <dcterms:created xsi:type="dcterms:W3CDTF">2026-10-05T00:00:00Z</dcterms:created>
  <dcterms:modified xsi:type="dcterms:W3CDTF">2026-10-05T00:00:00Z</dcterms:modified>
</cp:coreProperties>
</file>